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57" r:id="rId3"/>
    <p:sldId id="28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  <p:sldId id="287" r:id="rId14"/>
    <p:sldId id="267" r:id="rId15"/>
    <p:sldId id="268" r:id="rId16"/>
    <p:sldId id="269" r:id="rId17"/>
    <p:sldId id="270" r:id="rId18"/>
    <p:sldId id="272" r:id="rId19"/>
    <p:sldId id="288" r:id="rId20"/>
    <p:sldId id="291" r:id="rId21"/>
    <p:sldId id="289" r:id="rId22"/>
    <p:sldId id="292" r:id="rId23"/>
    <p:sldId id="290" r:id="rId24"/>
    <p:sldId id="293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5" r:id="rId37"/>
  </p:sldIdLst>
  <p:sldSz cx="12192000" cy="6858000"/>
  <p:notesSz cx="6858000" cy="9144000"/>
  <p:embeddedFontLst>
    <p:embeddedFont>
      <p:font typeface="Urbanist" panose="020B0604020202020204" charset="0"/>
      <p:regular r:id="rId39"/>
      <p:bold r:id="rId40"/>
      <p:italic r:id="rId41"/>
      <p:boldItalic r:id="rId42"/>
    </p:embeddedFont>
    <p:embeddedFont>
      <p:font typeface="Urbanist SemiBold" panose="020B060402020202020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81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4CD7D5-99A1-494C-8542-1C0668147E43}">
  <a:tblStyle styleId="{964CD7D5-99A1-494C-8542-1C0668147E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38" y="4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53BBC06-7451-1C4A-DF81-AE18E392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4BB84B34-926C-1E16-B9E6-838636D4A6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6DF35087-2C1A-0A74-8AFB-06531C1764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24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9" name="Google Shape;2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30F82830-B908-2668-AF33-17728FB3F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>
            <a:extLst>
              <a:ext uri="{FF2B5EF4-FFF2-40B4-BE49-F238E27FC236}">
                <a16:creationId xmlns:a16="http://schemas.microsoft.com/office/drawing/2014/main" id="{B0BD6AF4-C496-5DE3-6701-7870239F32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0:notes">
            <a:extLst>
              <a:ext uri="{FF2B5EF4-FFF2-40B4-BE49-F238E27FC236}">
                <a16:creationId xmlns:a16="http://schemas.microsoft.com/office/drawing/2014/main" id="{DD8491E7-CA5E-43AC-CE55-CFF9191C85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04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>
          <a:extLst>
            <a:ext uri="{FF2B5EF4-FFF2-40B4-BE49-F238E27FC236}">
              <a16:creationId xmlns:a16="http://schemas.microsoft.com/office/drawing/2014/main" id="{FABB1B65-1D44-DA78-D9EA-DB5C61A28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>
            <a:extLst>
              <a:ext uri="{FF2B5EF4-FFF2-40B4-BE49-F238E27FC236}">
                <a16:creationId xmlns:a16="http://schemas.microsoft.com/office/drawing/2014/main" id="{094A7717-53C3-5326-468C-5449308871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4:notes">
            <a:extLst>
              <a:ext uri="{FF2B5EF4-FFF2-40B4-BE49-F238E27FC236}">
                <a16:creationId xmlns:a16="http://schemas.microsoft.com/office/drawing/2014/main" id="{9E1B579D-2531-72A5-C537-42100AA401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43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>
          <a:extLst>
            <a:ext uri="{FF2B5EF4-FFF2-40B4-BE49-F238E27FC236}">
              <a16:creationId xmlns:a16="http://schemas.microsoft.com/office/drawing/2014/main" id="{AD0A3C81-8AA9-33C1-C72F-1D7A7921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>
            <a:extLst>
              <a:ext uri="{FF2B5EF4-FFF2-40B4-BE49-F238E27FC236}">
                <a16:creationId xmlns:a16="http://schemas.microsoft.com/office/drawing/2014/main" id="{25D1574D-44E8-E2F6-AFA5-EA39F48228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4:notes">
            <a:extLst>
              <a:ext uri="{FF2B5EF4-FFF2-40B4-BE49-F238E27FC236}">
                <a16:creationId xmlns:a16="http://schemas.microsoft.com/office/drawing/2014/main" id="{36AD140B-61AD-200B-8561-3B3A426CB2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565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>
          <a:extLst>
            <a:ext uri="{FF2B5EF4-FFF2-40B4-BE49-F238E27FC236}">
              <a16:creationId xmlns:a16="http://schemas.microsoft.com/office/drawing/2014/main" id="{2F4F999D-FF2B-53E0-C449-3CF48D0A9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>
            <a:extLst>
              <a:ext uri="{FF2B5EF4-FFF2-40B4-BE49-F238E27FC236}">
                <a16:creationId xmlns:a16="http://schemas.microsoft.com/office/drawing/2014/main" id="{B21B0AC2-3E57-8600-D011-AFE311955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4:notes">
            <a:extLst>
              <a:ext uri="{FF2B5EF4-FFF2-40B4-BE49-F238E27FC236}">
                <a16:creationId xmlns:a16="http://schemas.microsoft.com/office/drawing/2014/main" id="{B1959DA3-C70C-BE1D-9601-5D1FA0C2C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151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>
          <a:extLst>
            <a:ext uri="{FF2B5EF4-FFF2-40B4-BE49-F238E27FC236}">
              <a16:creationId xmlns:a16="http://schemas.microsoft.com/office/drawing/2014/main" id="{17EF5B06-5612-6D91-EDCD-3394ADD47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>
            <a:extLst>
              <a:ext uri="{FF2B5EF4-FFF2-40B4-BE49-F238E27FC236}">
                <a16:creationId xmlns:a16="http://schemas.microsoft.com/office/drawing/2014/main" id="{DA38D5F4-B636-AEDC-01FE-E915EBC472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4:notes">
            <a:extLst>
              <a:ext uri="{FF2B5EF4-FFF2-40B4-BE49-F238E27FC236}">
                <a16:creationId xmlns:a16="http://schemas.microsoft.com/office/drawing/2014/main" id="{832A11AF-5DF4-3653-1D82-8671EF611F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887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>
          <a:extLst>
            <a:ext uri="{FF2B5EF4-FFF2-40B4-BE49-F238E27FC236}">
              <a16:creationId xmlns:a16="http://schemas.microsoft.com/office/drawing/2014/main" id="{3BD0F8BD-94DF-1316-5FB6-95B03B81F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>
            <a:extLst>
              <a:ext uri="{FF2B5EF4-FFF2-40B4-BE49-F238E27FC236}">
                <a16:creationId xmlns:a16="http://schemas.microsoft.com/office/drawing/2014/main" id="{ACF1317F-CB22-82CA-67EA-F6F32F68F9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4:notes">
            <a:extLst>
              <a:ext uri="{FF2B5EF4-FFF2-40B4-BE49-F238E27FC236}">
                <a16:creationId xmlns:a16="http://schemas.microsoft.com/office/drawing/2014/main" id="{55B15EC6-FAAF-3BC9-9FDC-FD5BFCB875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658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>
          <a:extLst>
            <a:ext uri="{FF2B5EF4-FFF2-40B4-BE49-F238E27FC236}">
              <a16:creationId xmlns:a16="http://schemas.microsoft.com/office/drawing/2014/main" id="{464EA021-091F-8C67-1927-AB973026D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>
            <a:extLst>
              <a:ext uri="{FF2B5EF4-FFF2-40B4-BE49-F238E27FC236}">
                <a16:creationId xmlns:a16="http://schemas.microsoft.com/office/drawing/2014/main" id="{CE2DF07B-8D8B-B932-3CB5-745557230A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4:notes">
            <a:extLst>
              <a:ext uri="{FF2B5EF4-FFF2-40B4-BE49-F238E27FC236}">
                <a16:creationId xmlns:a16="http://schemas.microsoft.com/office/drawing/2014/main" id="{F70349DA-C841-462C-5D00-4B76539BB3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024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9" name="Google Shape;55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9;p15" descr="image.png">
            <a:extLst>
              <a:ext uri="{FF2B5EF4-FFF2-40B4-BE49-F238E27FC236}">
                <a16:creationId xmlns:a16="http://schemas.microsoft.com/office/drawing/2014/main" id="{A5CD8C9C-3AFC-ED35-5754-B2AA98644B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5134922"/>
            <a:ext cx="1562100" cy="67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80097" y="5134922"/>
            <a:ext cx="1581150" cy="67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48350" y="5165417"/>
            <a:ext cx="1341521" cy="67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04484" y="5197802"/>
            <a:ext cx="1628776" cy="67434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3600450" y="1339006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SECTION 1: PROJECT OVERVIEW &amp; MANAGEMENT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840718" y="2195066"/>
            <a:ext cx="4510563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UK-Train-Rides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Analysis Project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276350" y="3737075"/>
            <a:ext cx="23241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Group Code: YAT525A...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1157844" y="5066207"/>
            <a:ext cx="956706" cy="674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Mazen Ezzat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3486150" y="5098033"/>
            <a:ext cx="990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Ali Mohamed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5671511" y="5197802"/>
            <a:ext cx="16859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Mohammed Al-Saeed</a:t>
            </a:r>
            <a:endParaRPr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7726028" y="5173899"/>
            <a:ext cx="16287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Abdelrahman Ahmed</a:t>
            </a:r>
            <a:endParaRPr dirty="0"/>
          </a:p>
        </p:txBody>
      </p:sp>
      <p:pic>
        <p:nvPicPr>
          <p:cNvPr id="3" name="Google Shape;88;p13" descr="image.png">
            <a:extLst>
              <a:ext uri="{FF2B5EF4-FFF2-40B4-BE49-F238E27FC236}">
                <a16:creationId xmlns:a16="http://schemas.microsoft.com/office/drawing/2014/main" id="{37EE730C-7E34-689E-0805-5885131B783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90961" y="5235178"/>
            <a:ext cx="2219325" cy="6743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2;p13">
            <a:extLst>
              <a:ext uri="{FF2B5EF4-FFF2-40B4-BE49-F238E27FC236}">
                <a16:creationId xmlns:a16="http://schemas.microsoft.com/office/drawing/2014/main" id="{7E8CAB36-8E22-BFEE-6F55-476C522D0B1D}"/>
              </a:ext>
            </a:extLst>
          </p:cNvPr>
          <p:cNvSpPr txBox="1"/>
          <p:nvPr/>
        </p:nvSpPr>
        <p:spPr>
          <a:xfrm>
            <a:off x="10522270" y="5197802"/>
            <a:ext cx="956706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Ahmed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Sheta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0310"/>
            <a:ext cx="11315700" cy="4820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041082" y="2110707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Objective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1304925" y="2903785"/>
            <a:ext cx="6924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2000"/>
          </a:p>
        </p:txBody>
      </p:sp>
      <p:sp>
        <p:nvSpPr>
          <p:cNvPr id="106" name="Google Shape;106;p14"/>
          <p:cNvSpPr txBox="1"/>
          <p:nvPr/>
        </p:nvSpPr>
        <p:spPr>
          <a:xfrm>
            <a:off x="1343024" y="2903785"/>
            <a:ext cx="7409089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Operational analysis of a real railway network studying 31,000+ actual transactions.</a:t>
            </a:r>
            <a:endParaRPr sz="2000"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1304925" y="3608635"/>
            <a:ext cx="6924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2000"/>
          </a:p>
        </p:txBody>
      </p:sp>
      <p:sp>
        <p:nvSpPr>
          <p:cNvPr id="108" name="Google Shape;108;p14"/>
          <p:cNvSpPr txBox="1"/>
          <p:nvPr/>
        </p:nvSpPr>
        <p:spPr>
          <a:xfrm>
            <a:off x="1343024" y="3608635"/>
            <a:ext cx="7409089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Uncover booking patterns, evaluate trip performance, and identify operational challenges (delays, refunds).</a:t>
            </a:r>
            <a:endParaRPr sz="2000"/>
          </a:p>
        </p:txBody>
      </p:sp>
      <p:sp>
        <p:nvSpPr>
          <p:cNvPr id="109" name="Google Shape;109;p14"/>
          <p:cNvSpPr txBox="1"/>
          <p:nvPr/>
        </p:nvSpPr>
        <p:spPr>
          <a:xfrm>
            <a:off x="1304925" y="4618285"/>
            <a:ext cx="6924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2000"/>
          </a:p>
        </p:txBody>
      </p:sp>
      <p:sp>
        <p:nvSpPr>
          <p:cNvPr id="110" name="Google Shape;110;p14"/>
          <p:cNvSpPr txBox="1"/>
          <p:nvPr/>
        </p:nvSpPr>
        <p:spPr>
          <a:xfrm>
            <a:off x="1343024" y="4618285"/>
            <a:ext cx="740908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Understand passenger purchasing and payment behaviors.</a:t>
            </a:r>
            <a:endParaRPr sz="2000"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1304925" y="5323135"/>
            <a:ext cx="6924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2000"/>
          </a:p>
        </p:txBody>
      </p:sp>
      <p:sp>
        <p:nvSpPr>
          <p:cNvPr id="112" name="Google Shape;112;p14"/>
          <p:cNvSpPr txBox="1"/>
          <p:nvPr/>
        </p:nvSpPr>
        <p:spPr>
          <a:xfrm>
            <a:off x="1343024" y="5323135"/>
            <a:ext cx="7409089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Utilize Python and Power BI for integrated vision and improvement opportunities.</a:t>
            </a:r>
            <a:endParaRPr sz="2000"/>
          </a:p>
        </p:txBody>
      </p:sp>
      <p:sp>
        <p:nvSpPr>
          <p:cNvPr id="123" name="Google Shape;123;p14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Proposal &amp; Objectives</a:t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9A4F5B6F-35DC-B1B5-FF4A-B69074B0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BB942E76-6247-D08B-5A43-AEEB3D4EE3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>
            <a:extLst>
              <a:ext uri="{FF2B5EF4-FFF2-40B4-BE49-F238E27FC236}">
                <a16:creationId xmlns:a16="http://schemas.microsoft.com/office/drawing/2014/main" id="{A5013CFF-ECB7-3406-1B7D-F6689AC1DDE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7838" y="1752600"/>
            <a:ext cx="10914535" cy="489758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AE0EAE1E-1289-CBDC-7A65-DC61CAEFDEFE}"/>
              </a:ext>
            </a:extLst>
          </p:cNvPr>
          <p:cNvSpPr txBox="1"/>
          <p:nvPr/>
        </p:nvSpPr>
        <p:spPr>
          <a:xfrm>
            <a:off x="762000" y="196899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Scope</a:t>
            </a:r>
            <a:endParaRPr dirty="0"/>
          </a:p>
        </p:txBody>
      </p:sp>
      <p:sp>
        <p:nvSpPr>
          <p:cNvPr id="123" name="Google Shape;123;p14">
            <a:extLst>
              <a:ext uri="{FF2B5EF4-FFF2-40B4-BE49-F238E27FC236}">
                <a16:creationId xmlns:a16="http://schemas.microsoft.com/office/drawing/2014/main" id="{B27A4C56-703B-7B13-A028-49D85B7738BF}"/>
              </a:ext>
            </a:extLst>
          </p:cNvPr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Proposal &amp; Objectives</a:t>
            </a:r>
            <a:endParaRPr/>
          </a:p>
        </p:txBody>
      </p:sp>
      <p:sp>
        <p:nvSpPr>
          <p:cNvPr id="124" name="Google Shape;124;p14">
            <a:extLst>
              <a:ext uri="{FF2B5EF4-FFF2-40B4-BE49-F238E27FC236}">
                <a16:creationId xmlns:a16="http://schemas.microsoft.com/office/drawing/2014/main" id="{FEA53BB1-0C46-4A7C-83CD-72254F7423A4}"/>
              </a:ext>
            </a:extLst>
          </p:cNvPr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6B60E-7FF8-BB4F-9C24-A793753A588B}"/>
              </a:ext>
            </a:extLst>
          </p:cNvPr>
          <p:cNvSpPr txBox="1"/>
          <p:nvPr/>
        </p:nvSpPr>
        <p:spPr>
          <a:xfrm>
            <a:off x="944868" y="2270403"/>
            <a:ext cx="9583758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38195"/>
                </a:solidFill>
              </a:rPr>
              <a:t>Operational Overview: Analyzing high-level metrics such as Total Sold Tickets, Total Journeys, and the overall status of trips (On-Time, Delayed, Cancelled).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2000" dirty="0">
              <a:solidFill>
                <a:srgbClr val="7381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38195"/>
                </a:solidFill>
              </a:rPr>
              <a:t>Executive Performance (Revenue Analysis): Tracking financial performance, including Total Revenue vs. Net Revenue, identifying top revenue-generating routes and departure stations, and analyzing payment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2000" dirty="0">
              <a:solidFill>
                <a:srgbClr val="7381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38195"/>
                </a:solidFill>
              </a:rPr>
              <a:t>.Delay Analysis: Investigating the root causes of delays (e.g., Weather, Signal Failure, Staff Shortage), their seasonality (month-over-month trends), and identifying which routes are most affected by specific delay reasons.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2000" dirty="0">
              <a:solidFill>
                <a:srgbClr val="7381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38195"/>
                </a:solidFill>
              </a:rPr>
              <a:t>Refunds &amp; Cancellations: Monitoring Cancellation Rates and Refund Values, analyzing the impact of ticket classes (Standard vs. First Class) on refunds, and tracking revenue loss due to disruptions.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dirty="0">
              <a:solidFill>
                <a:srgbClr val="7381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dirty="0">
              <a:solidFill>
                <a:srgbClr val="7381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dirty="0">
              <a:solidFill>
                <a:srgbClr val="7381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dirty="0">
              <a:solidFill>
                <a:srgbClr val="7381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dirty="0">
              <a:solidFill>
                <a:srgbClr val="7381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dirty="0">
              <a:solidFill>
                <a:srgbClr val="7381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dirty="0">
              <a:solidFill>
                <a:srgbClr val="7381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dirty="0">
              <a:solidFill>
                <a:srgbClr val="7381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3819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776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8868"/>
            <a:ext cx="2057400" cy="367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19400" y="2378868"/>
            <a:ext cx="2057400" cy="367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67300" y="2378868"/>
            <a:ext cx="2057400" cy="367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15200" y="2378868"/>
            <a:ext cx="2057400" cy="367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63100" y="2378868"/>
            <a:ext cx="2057400" cy="367992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762000" y="2607468"/>
            <a:ext cx="1676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WEEK 2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762000" y="3036093"/>
            <a:ext cx="17602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Phase 1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762000" y="3550443"/>
            <a:ext cx="167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 Cleaning &amp; Transformation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762000" y="4302918"/>
            <a:ext cx="1676400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Handle missing values, fix inconsistencies, prepare dataset using Python (Pandas).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762000" y="5298876"/>
            <a:ext cx="1676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Milestone:</a:t>
            </a:r>
            <a:r>
              <a:rPr lang="en-US" sz="105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Cleaned dataset ready.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3009900" y="2607468"/>
            <a:ext cx="1676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WEEK 3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3009900" y="3036093"/>
            <a:ext cx="17602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Phase 2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3009900" y="3550443"/>
            <a:ext cx="167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 Analysis &amp; Metric Creation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3009900" y="4302918"/>
            <a:ext cx="167640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Analyze patterns of delays, refunds, payments, and trip efficiency.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3009900" y="5085605"/>
            <a:ext cx="1676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Milestone:</a:t>
            </a:r>
            <a:r>
              <a:rPr lang="en-US" sz="105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Key insights identified.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5257800" y="2607468"/>
            <a:ext cx="1676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WEEK 4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5257800" y="3036093"/>
            <a:ext cx="17602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Phase 3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5257800" y="3550443"/>
            <a:ext cx="167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Dashboard Development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5257800" y="4302918"/>
            <a:ext cx="167640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Build Power BI dashboard with interactive visuals and KPIs.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5257800" y="5085605"/>
            <a:ext cx="1676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Milestone:</a:t>
            </a:r>
            <a:r>
              <a:rPr lang="en-US" sz="105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First version of dashboard.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7505700" y="2607468"/>
            <a:ext cx="1676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WEEK 5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7505700" y="3036093"/>
            <a:ext cx="17602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Phase 4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7505700" y="3550443"/>
            <a:ext cx="167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Review &amp; Refinement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7505700" y="4302918"/>
            <a:ext cx="167640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Validate results, enhance visuals, optimize performance.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7505700" y="5085605"/>
            <a:ext cx="1676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Milestone:</a:t>
            </a:r>
            <a:r>
              <a:rPr lang="en-US" sz="105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Final dashboard ready.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9753600" y="2607468"/>
            <a:ext cx="1676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WEEK 6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9753600" y="3036093"/>
            <a:ext cx="17602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Phase 5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9753600" y="3550443"/>
            <a:ext cx="167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Presentation &amp; Documentation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9753600" y="4302918"/>
            <a:ext cx="1676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Prepare presentation, reports, upload to GitHub.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9753600" y="4872335"/>
            <a:ext cx="1676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Milestone:</a:t>
            </a:r>
            <a:r>
              <a:rPr lang="en-US" sz="105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Project completed.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Plan &amp; Timeline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571500" y="3237755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Resources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571500" y="3656855"/>
            <a:ext cx="52387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6381750" y="2680543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Task Assignment &amp; Roles</a:t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6381750" y="3099643"/>
            <a:ext cx="5238750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1" name="Google Shape;171;p16"/>
          <p:cNvGraphicFramePr/>
          <p:nvPr>
            <p:extLst>
              <p:ext uri="{D42A27DB-BD31-4B8C-83A1-F6EECF244321}">
                <p14:modId xmlns:p14="http://schemas.microsoft.com/office/powerpoint/2010/main" val="2286812263"/>
              </p:ext>
            </p:extLst>
          </p:nvPr>
        </p:nvGraphicFramePr>
        <p:xfrm>
          <a:off x="6381750" y="3261568"/>
          <a:ext cx="5238750" cy="2381250"/>
        </p:xfrm>
        <a:graphic>
          <a:graphicData uri="http://schemas.openxmlformats.org/drawingml/2006/table">
            <a:tbl>
              <a:tblPr firstRow="1" bandRow="1">
                <a:noFill/>
                <a:tableStyleId>{964CD7D5-99A1-494C-8542-1C0668147E43}</a:tableStyleId>
              </a:tblPr>
              <a:tblGrid>
                <a:gridCol w="30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 Cleaning &amp; Transformation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[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Mazen Ezzat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]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 Analysis &amp; Metrics Creation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[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Mazen Ezzat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]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Dashboard Development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[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Ali Mohammed 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]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Review &amp; Refinement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[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Mohammed Al-Saeed 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]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Presentation &amp; Documentation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[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Abdelrahman Ahmed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]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2" name="Google Shape;172;p16"/>
          <p:cNvSpPr txBox="1"/>
          <p:nvPr/>
        </p:nvSpPr>
        <p:spPr>
          <a:xfrm>
            <a:off x="571500" y="382830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Tools: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Python, Power BI.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571500" y="422835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Libraries: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Pandas, Matplotlib, Seaborn (visualization).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571500" y="462840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Source: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DEPI Datasets (UK Train Rides dataset).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6381750" y="3723530"/>
            <a:ext cx="30365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9418290" y="3723530"/>
            <a:ext cx="22022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6381750" y="4199780"/>
            <a:ext cx="30365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9418290" y="4199780"/>
            <a:ext cx="22022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6381750" y="4676030"/>
            <a:ext cx="30365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9418290" y="4676030"/>
            <a:ext cx="22022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6381750" y="5152280"/>
            <a:ext cx="30365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9418290" y="5152280"/>
            <a:ext cx="22022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6381750" y="5628530"/>
            <a:ext cx="30365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9418290" y="5628530"/>
            <a:ext cx="22022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8069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8074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80793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6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Resources &amp; Task Assignment</a:t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6230"/>
            <a:ext cx="349240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66230"/>
            <a:ext cx="34925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66230"/>
            <a:ext cx="349240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27200" y="275198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/>
          <p:nvPr/>
        </p:nvSpPr>
        <p:spPr>
          <a:xfrm>
            <a:off x="784227" y="3590180"/>
            <a:ext cx="306694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Risk 1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857250" y="4104530"/>
            <a:ext cx="2920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Missing or inconsistent data.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857250" y="455220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Solution:</a:t>
            </a:r>
            <a:r>
              <a:rPr lang="en-US" sz="150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Use Python validation and data cleaning scripts.</a:t>
            </a:r>
            <a:endParaRPr/>
          </a:p>
        </p:txBody>
      </p:sp>
      <p:pic>
        <p:nvPicPr>
          <p:cNvPr id="202" name="Google Shape;20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351" y="275198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 txBox="1"/>
          <p:nvPr/>
        </p:nvSpPr>
        <p:spPr>
          <a:xfrm>
            <a:off x="4562374" y="3590180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Risk 2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4635400" y="4104530"/>
            <a:ext cx="2921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Performance issues in Power BI.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4635400" y="4552205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Solution:</a:t>
            </a:r>
            <a:r>
              <a:rPr lang="en-US" sz="150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Optimize data model and use DAX efficiently.</a:t>
            </a:r>
            <a:endParaRPr/>
          </a:p>
        </p:txBody>
      </p:sp>
      <p:pic>
        <p:nvPicPr>
          <p:cNvPr id="206" name="Google Shape;20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83650" y="275198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7"/>
          <p:cNvSpPr txBox="1"/>
          <p:nvPr/>
        </p:nvSpPr>
        <p:spPr>
          <a:xfrm>
            <a:off x="8340677" y="3590180"/>
            <a:ext cx="306694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Risk 3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8413700" y="4104530"/>
            <a:ext cx="2920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Misinterpretation of insights.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8413700" y="455220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Solution:</a:t>
            </a:r>
            <a:r>
              <a:rPr lang="en-US" sz="150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Validate results with domain experts or supervisors.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Risk Assessment &amp; Mitigation</a:t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/>
          <p:nvPr/>
        </p:nvSpPr>
        <p:spPr>
          <a:xfrm>
            <a:off x="5619750" y="2300882"/>
            <a:ext cx="9525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1600438" y="3067347"/>
            <a:ext cx="8991123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Section 2: System Analysis &amp; Design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96202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Stakeholder Analysis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77227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User Stories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7343775" y="2903785"/>
            <a:ext cx="3505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"As an operations manager, I want to monitor train delays to identify problematic routes." </a:t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7153275" y="2903785"/>
            <a:ext cx="38100" cy="3619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7343775" y="3456235"/>
            <a:ext cx="3505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"As a financial analyst, I want to track refund trends to reduce operational losses." </a:t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7153275" y="3456235"/>
            <a:ext cx="38100" cy="3619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1304925" y="29037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1343025" y="290378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Business Managers: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Interested in operational efficiency and revenue.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1304925" y="360863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1343025" y="360863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Transport Authorities: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Need punctuality and delay reports.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1304925" y="43134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1343025" y="431348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Passengers: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Indirect beneficiaries through improved service.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Requirements Gathering</a:t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0"/>
          <p:cNvSpPr txBox="1"/>
          <p:nvPr/>
        </p:nvSpPr>
        <p:spPr>
          <a:xfrm>
            <a:off x="571500" y="314250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Functional Requirements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381750" y="329490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Non-Functional Requirements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885825" y="361875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952500" y="361875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Dashboard showing KPIs (delays, refunds, sales, booking volume).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885825" y="432360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952500" y="432360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Filters by date, route, station, and payment method.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885825" y="472365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952500" y="472365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Interactive visuals (maps, charts, drill-down reports).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648450" y="377115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762750" y="377115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Dashboard loads within 5 seconds.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6648450" y="417120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6762750" y="417120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Clean and accessible visualization style.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6648450" y="457125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6762750" y="457125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Scalable data model to handle future datasets.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Functional &amp; Non-Functional Requirements</a:t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98985"/>
            <a:ext cx="5238750" cy="3687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598985"/>
            <a:ext cx="5238750" cy="368751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1"/>
          <p:cNvSpPr txBox="1"/>
          <p:nvPr/>
        </p:nvSpPr>
        <p:spPr>
          <a:xfrm>
            <a:off x="571500" y="196081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Problem Statement: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Manual analysis consumes time and misses patterns. Automation supports better decision-making.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962025" y="325621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Software Architecture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6772275" y="325621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Flow (DFD)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1304925" y="373246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1343025" y="3732460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Source: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CSV files from DEPI datasets.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1304925" y="413251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1343025" y="4132510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Backend Processing: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Python (Data cleaning/transformation).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1304925" y="483736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1343025" y="4837360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Visualization Layer: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Power BI dashboard.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7258050" y="373246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1.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7343775" y="3732460"/>
            <a:ext cx="388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Extract data from DEPI dataset.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7200900" y="4132510"/>
            <a:ext cx="142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2.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7343775" y="4132510"/>
            <a:ext cx="388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Transform using Python scripts.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7210425" y="4532560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3.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7343775" y="4532560"/>
            <a:ext cx="388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Load into Power BI.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7200900" y="4932610"/>
            <a:ext cx="142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4.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7343775" y="4932610"/>
            <a:ext cx="388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Generate and analyze KPIs.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Architecture &amp; Data Flow</a:t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3"/>
          <p:cNvSpPr txBox="1"/>
          <p:nvPr/>
        </p:nvSpPr>
        <p:spPr>
          <a:xfrm>
            <a:off x="96202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Columns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677227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KPIs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1304925" y="292283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1343025" y="292283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Transaction ID, Trip ID, Customer ID.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1304925" y="33228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1343025" y="33228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Departure/Arrival Time, Delay (minutes).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1304925" y="372293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1343025" y="372293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Refund Request, Payment Method, Ticket Price.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1304925" y="41229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1343025" y="41229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Route, Station From, Station To.</a:t>
            </a:r>
            <a:endParaRPr/>
          </a:p>
        </p:txBody>
      </p:sp>
      <p:sp>
        <p:nvSpPr>
          <p:cNvPr id="322" name="Google Shape;322;p23"/>
          <p:cNvSpPr txBox="1"/>
          <p:nvPr/>
        </p:nvSpPr>
        <p:spPr>
          <a:xfrm>
            <a:off x="1304925" y="452303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1343025" y="452303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Date of Travel, Booking Date.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7153275" y="292283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Total number of trips.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7153275" y="33228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Average delay time per route.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7153275" y="372293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Total refund requests &amp; Refund Rate.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7153275" y="41229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On-time performance ratio.</a:t>
            </a:r>
            <a:endParaRPr/>
          </a:p>
        </p:txBody>
      </p:sp>
      <p:pic>
        <p:nvPicPr>
          <p:cNvPr id="328" name="Google Shape;32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53275" y="297522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53275" y="33752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53275" y="377532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53275" y="417537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3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Dataset Overview (Columns)</a:t>
            </a: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2"/>
          <p:cNvSpPr txBox="1"/>
          <p:nvPr/>
        </p:nvSpPr>
        <p:spPr>
          <a:xfrm>
            <a:off x="571500" y="213285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Logical Schema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Database Schema (Logical &amp; Physical)</a:t>
            </a:r>
            <a:endParaRPr/>
          </a:p>
        </p:txBody>
      </p:sp>
      <p:sp>
        <p:nvSpPr>
          <p:cNvPr id="304" name="Google Shape;304;p22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66;p21" descr="image.png">
            <a:extLst>
              <a:ext uri="{FF2B5EF4-FFF2-40B4-BE49-F238E27FC236}">
                <a16:creationId xmlns:a16="http://schemas.microsoft.com/office/drawing/2014/main" id="{DCBB20BE-6B72-A25F-752B-4F304DB7D6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" y="2755395"/>
            <a:ext cx="3363328" cy="387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66;p21" descr="image.png">
            <a:extLst>
              <a:ext uri="{FF2B5EF4-FFF2-40B4-BE49-F238E27FC236}">
                <a16:creationId xmlns:a16="http://schemas.microsoft.com/office/drawing/2014/main" id="{01852313-DD77-CEB1-ED93-77D0E3E019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8637" y="2755394"/>
            <a:ext cx="3568616" cy="3875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66;p21" descr="image.png">
            <a:extLst>
              <a:ext uri="{FF2B5EF4-FFF2-40B4-BE49-F238E27FC236}">
                <a16:creationId xmlns:a16="http://schemas.microsoft.com/office/drawing/2014/main" id="{1D489F61-FB05-3CD4-F08E-05595C5580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80784" y="2755394"/>
            <a:ext cx="2939716" cy="387540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47D585-B3DD-F73B-389F-A16695915884}"/>
              </a:ext>
            </a:extLst>
          </p:cNvPr>
          <p:cNvSpPr txBox="1"/>
          <p:nvPr/>
        </p:nvSpPr>
        <p:spPr>
          <a:xfrm>
            <a:off x="720452" y="3075658"/>
            <a:ext cx="316067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738195"/>
                </a:solidFill>
              </a:rPr>
              <a:t>. Fact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rgbClr val="738195"/>
                </a:solidFill>
              </a:rPr>
              <a:t>Fact_Data</a:t>
            </a:r>
            <a:r>
              <a:rPr lang="en-US" sz="1700" b="1" dirty="0">
                <a:solidFill>
                  <a:srgbClr val="738195"/>
                </a:solidFill>
              </a:rPr>
              <a:t>:</a:t>
            </a:r>
            <a:endParaRPr lang="en-US" sz="1700" dirty="0">
              <a:solidFill>
                <a:srgbClr val="738195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738195"/>
                </a:solidFill>
              </a:rPr>
              <a:t>Date of Journey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738195"/>
                </a:solidFill>
              </a:rPr>
              <a:t>Date of Purchase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i="1" dirty="0">
                <a:solidFill>
                  <a:srgbClr val="738195"/>
                </a:solidFill>
              </a:rPr>
              <a:t>Foreign Keys:</a:t>
            </a:r>
            <a:r>
              <a:rPr lang="en-US" sz="1700" dirty="0">
                <a:solidFill>
                  <a:srgbClr val="738195"/>
                </a:solidFill>
              </a:rPr>
              <a:t> (</a:t>
            </a:r>
            <a:r>
              <a:rPr lang="en-US" sz="1700" dirty="0" err="1">
                <a:solidFill>
                  <a:srgbClr val="738195"/>
                </a:solidFill>
              </a:rPr>
              <a:t>Delay_ID</a:t>
            </a:r>
            <a:r>
              <a:rPr lang="en-US" sz="1700" dirty="0">
                <a:solidFill>
                  <a:srgbClr val="738195"/>
                </a:solidFill>
              </a:rPr>
              <a:t>, JourneyStatus_ID, </a:t>
            </a:r>
            <a:r>
              <a:rPr lang="en-US" sz="1700" dirty="0" err="1">
                <a:solidFill>
                  <a:srgbClr val="738195"/>
                </a:solidFill>
              </a:rPr>
              <a:t>PaymentMethod_ID</a:t>
            </a:r>
            <a:r>
              <a:rPr lang="en-US" sz="1700" dirty="0">
                <a:solidFill>
                  <a:srgbClr val="738195"/>
                </a:solidFill>
              </a:rPr>
              <a:t>, </a:t>
            </a:r>
            <a:r>
              <a:rPr lang="en-US" sz="1700" dirty="0" err="1">
                <a:solidFill>
                  <a:srgbClr val="738195"/>
                </a:solidFill>
              </a:rPr>
              <a:t>PurchaseType_ID</a:t>
            </a:r>
            <a:r>
              <a:rPr lang="en-US" sz="1700" dirty="0">
                <a:solidFill>
                  <a:srgbClr val="738195"/>
                </a:solidFill>
              </a:rPr>
              <a:t>, </a:t>
            </a:r>
            <a:r>
              <a:rPr lang="en-US" sz="1700" dirty="0" err="1">
                <a:solidFill>
                  <a:srgbClr val="738195"/>
                </a:solidFill>
              </a:rPr>
              <a:t>Railcard_ID</a:t>
            </a:r>
            <a:r>
              <a:rPr lang="en-US" sz="1700" dirty="0">
                <a:solidFill>
                  <a:srgbClr val="738195"/>
                </a:solidFill>
              </a:rPr>
              <a:t>, Dep_DES_ID, Ticket_ID)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F1D882-A2B7-757D-99B7-B87BF544C7EF}"/>
              </a:ext>
            </a:extLst>
          </p:cNvPr>
          <p:cNvSpPr txBox="1"/>
          <p:nvPr/>
        </p:nvSpPr>
        <p:spPr>
          <a:xfrm>
            <a:off x="4565984" y="2845152"/>
            <a:ext cx="33147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738195"/>
                </a:solidFill>
              </a:rPr>
              <a:t>Dimension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 err="1">
                <a:solidFill>
                  <a:srgbClr val="738195"/>
                </a:solidFill>
              </a:rPr>
              <a:t>DimTicket</a:t>
            </a:r>
            <a:r>
              <a:rPr lang="en-US" sz="1500" b="1" dirty="0">
                <a:solidFill>
                  <a:srgbClr val="738195"/>
                </a:solidFill>
              </a:rPr>
              <a:t>:</a:t>
            </a:r>
            <a:r>
              <a:rPr lang="en-US" sz="1500" dirty="0">
                <a:solidFill>
                  <a:srgbClr val="738195"/>
                </a:solidFill>
              </a:rPr>
              <a:t> Ticket Class, Ticket Type.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 err="1">
                <a:solidFill>
                  <a:srgbClr val="738195"/>
                </a:solidFill>
              </a:rPr>
              <a:t>DimPaymentMethod</a:t>
            </a:r>
            <a:r>
              <a:rPr lang="en-US" sz="1500" b="1" dirty="0">
                <a:solidFill>
                  <a:srgbClr val="738195"/>
                </a:solidFill>
              </a:rPr>
              <a:t>:</a:t>
            </a:r>
            <a:r>
              <a:rPr lang="en-US" sz="1500" dirty="0">
                <a:solidFill>
                  <a:srgbClr val="738195"/>
                </a:solidFill>
              </a:rPr>
              <a:t> Payment Method.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 err="1">
                <a:solidFill>
                  <a:srgbClr val="738195"/>
                </a:solidFill>
              </a:rPr>
              <a:t>DimRailcard</a:t>
            </a:r>
            <a:r>
              <a:rPr lang="en-US" sz="1500" b="1" dirty="0">
                <a:solidFill>
                  <a:srgbClr val="738195"/>
                </a:solidFill>
              </a:rPr>
              <a:t>:</a:t>
            </a:r>
            <a:r>
              <a:rPr lang="en-US" sz="1500" dirty="0">
                <a:solidFill>
                  <a:srgbClr val="738195"/>
                </a:solidFill>
              </a:rPr>
              <a:t> </a:t>
            </a:r>
            <a:r>
              <a:rPr lang="en-US" sz="1500" dirty="0" err="1">
                <a:solidFill>
                  <a:srgbClr val="738195"/>
                </a:solidFill>
              </a:rPr>
              <a:t>Railcard</a:t>
            </a:r>
            <a:r>
              <a:rPr lang="en-US" sz="1500" dirty="0">
                <a:solidFill>
                  <a:srgbClr val="738195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 err="1">
                <a:solidFill>
                  <a:srgbClr val="738195"/>
                </a:solidFill>
              </a:rPr>
              <a:t>DimJourneyStatus</a:t>
            </a:r>
            <a:r>
              <a:rPr lang="en-US" sz="1500" b="1" dirty="0">
                <a:solidFill>
                  <a:srgbClr val="738195"/>
                </a:solidFill>
              </a:rPr>
              <a:t>:</a:t>
            </a:r>
            <a:r>
              <a:rPr lang="en-US" sz="1500" dirty="0">
                <a:solidFill>
                  <a:srgbClr val="738195"/>
                </a:solidFill>
              </a:rPr>
              <a:t> Journey Status.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 err="1">
                <a:solidFill>
                  <a:srgbClr val="738195"/>
                </a:solidFill>
              </a:rPr>
              <a:t>DimPurchaseType</a:t>
            </a:r>
            <a:r>
              <a:rPr lang="en-US" sz="1500" b="1" dirty="0">
                <a:solidFill>
                  <a:srgbClr val="738195"/>
                </a:solidFill>
              </a:rPr>
              <a:t>:</a:t>
            </a:r>
            <a:r>
              <a:rPr lang="en-US" sz="1500" dirty="0">
                <a:solidFill>
                  <a:srgbClr val="738195"/>
                </a:solidFill>
              </a:rPr>
              <a:t> Purchase Type.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 err="1">
                <a:solidFill>
                  <a:srgbClr val="738195"/>
                </a:solidFill>
              </a:rPr>
              <a:t>DimStation</a:t>
            </a:r>
            <a:r>
              <a:rPr lang="en-US" sz="1500" b="1" dirty="0">
                <a:solidFill>
                  <a:srgbClr val="738195"/>
                </a:solidFill>
              </a:rPr>
              <a:t>:</a:t>
            </a:r>
            <a:r>
              <a:rPr lang="en-US" sz="1500" dirty="0">
                <a:solidFill>
                  <a:srgbClr val="738195"/>
                </a:solidFill>
              </a:rPr>
              <a:t> Arrival Destination, Dep_DES_ID.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 err="1">
                <a:solidFill>
                  <a:srgbClr val="738195"/>
                </a:solidFill>
              </a:rPr>
              <a:t>DimDelay</a:t>
            </a:r>
            <a:r>
              <a:rPr lang="en-US" sz="1500" b="1" dirty="0">
                <a:solidFill>
                  <a:srgbClr val="738195"/>
                </a:solidFill>
              </a:rPr>
              <a:t>:</a:t>
            </a:r>
            <a:r>
              <a:rPr lang="en-US" sz="1500" dirty="0">
                <a:solidFill>
                  <a:srgbClr val="738195"/>
                </a:solidFill>
              </a:rPr>
              <a:t> </a:t>
            </a:r>
            <a:r>
              <a:rPr lang="en-US" sz="1500" dirty="0" err="1">
                <a:solidFill>
                  <a:srgbClr val="738195"/>
                </a:solidFill>
              </a:rPr>
              <a:t>Delay_ID</a:t>
            </a:r>
            <a:r>
              <a:rPr lang="en-US" sz="1500" dirty="0">
                <a:solidFill>
                  <a:srgbClr val="738195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 err="1">
                <a:solidFill>
                  <a:srgbClr val="738195"/>
                </a:solidFill>
              </a:rPr>
              <a:t>DimTime</a:t>
            </a:r>
            <a:r>
              <a:rPr lang="en-US" sz="1500" b="1" dirty="0">
                <a:solidFill>
                  <a:srgbClr val="738195"/>
                </a:solidFill>
              </a:rPr>
              <a:t>:</a:t>
            </a:r>
            <a:r>
              <a:rPr lang="en-US" sz="1500" dirty="0">
                <a:solidFill>
                  <a:srgbClr val="738195"/>
                </a:solidFill>
              </a:rPr>
              <a:t> Actual Arrival Time, Arrival Time, Departure Time, Time of Purchase.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74459F-E2A0-F15A-A066-5C4EB777676D}"/>
              </a:ext>
            </a:extLst>
          </p:cNvPr>
          <p:cNvSpPr txBox="1"/>
          <p:nvPr/>
        </p:nvSpPr>
        <p:spPr>
          <a:xfrm>
            <a:off x="8680785" y="2943289"/>
            <a:ext cx="289209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738195"/>
                </a:solidFill>
              </a:rPr>
              <a:t>3. Date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738195"/>
                </a:solidFill>
              </a:rPr>
              <a:t>Calendar:</a:t>
            </a:r>
            <a:r>
              <a:rPr lang="en-US" sz="1700" dirty="0">
                <a:solidFill>
                  <a:srgbClr val="738195"/>
                </a:solidFill>
              </a:rPr>
              <a:t> Date, Month, Month-Year, </a:t>
            </a:r>
            <a:r>
              <a:rPr lang="en-US" sz="1700" dirty="0" err="1">
                <a:solidFill>
                  <a:srgbClr val="738195"/>
                </a:solidFill>
              </a:rPr>
              <a:t>MonthNum</a:t>
            </a:r>
            <a:r>
              <a:rPr lang="en-US" sz="1700" dirty="0">
                <a:solidFill>
                  <a:srgbClr val="738195"/>
                </a:solidFill>
              </a:rPr>
              <a:t>, Quarter.</a:t>
            </a:r>
          </a:p>
          <a:p>
            <a:pPr>
              <a:buNone/>
            </a:pPr>
            <a:r>
              <a:rPr lang="en-US" sz="1700" b="1" dirty="0">
                <a:solidFill>
                  <a:srgbClr val="738195"/>
                </a:solidFill>
              </a:rPr>
              <a:t>4. Measures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738195"/>
                </a:solidFill>
              </a:rPr>
              <a:t>Measures:</a:t>
            </a:r>
            <a:endParaRPr lang="en-US" sz="1700" dirty="0">
              <a:solidFill>
                <a:srgbClr val="738195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738195"/>
                </a:solidFill>
              </a:rPr>
              <a:t>Average Refund 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738195"/>
                </a:solidFill>
              </a:rPr>
              <a:t>Average Ticket Price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738195"/>
                </a:solidFill>
              </a:rPr>
              <a:t>Cancellation Rate 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738195"/>
                </a:solidFill>
              </a:rPr>
              <a:t>Cancelled Journeys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4213FF75-6DAB-96C7-D458-E8EB61D10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2" descr="image.png">
            <a:extLst>
              <a:ext uri="{FF2B5EF4-FFF2-40B4-BE49-F238E27FC236}">
                <a16:creationId xmlns:a16="http://schemas.microsoft.com/office/drawing/2014/main" id="{90A35825-5DF1-8D7D-B83B-157F5CF464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2">
            <a:extLst>
              <a:ext uri="{FF2B5EF4-FFF2-40B4-BE49-F238E27FC236}">
                <a16:creationId xmlns:a16="http://schemas.microsoft.com/office/drawing/2014/main" id="{6DD3CC0B-1C42-C194-F899-802E7B9442F3}"/>
              </a:ext>
            </a:extLst>
          </p:cNvPr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Database Schema (Logical &amp; Physical)</a:t>
            </a:r>
            <a:endParaRPr/>
          </a:p>
        </p:txBody>
      </p:sp>
      <p:sp>
        <p:nvSpPr>
          <p:cNvPr id="304" name="Google Shape;304;p22">
            <a:extLst>
              <a:ext uri="{FF2B5EF4-FFF2-40B4-BE49-F238E27FC236}">
                <a16:creationId xmlns:a16="http://schemas.microsoft.com/office/drawing/2014/main" id="{408FF99E-5D15-C543-B8BE-22DD597C6FBF}"/>
              </a:ext>
            </a:extLst>
          </p:cNvPr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8E7C04-AF27-E5AA-0BAF-C496DD0476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94" t="20139" r="5929" b="23096"/>
          <a:stretch>
            <a:fillRect/>
          </a:stretch>
        </p:blipFill>
        <p:spPr>
          <a:xfrm>
            <a:off x="571500" y="1684422"/>
            <a:ext cx="10871033" cy="472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4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4"/>
          <p:cNvSpPr/>
          <p:nvPr/>
        </p:nvSpPr>
        <p:spPr>
          <a:xfrm>
            <a:off x="5619750" y="2300882"/>
            <a:ext cx="9525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 txBox="1"/>
          <p:nvPr/>
        </p:nvSpPr>
        <p:spPr>
          <a:xfrm>
            <a:off x="1555432" y="3067347"/>
            <a:ext cx="908113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Section 3: Technical Implementation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998886"/>
            <a:ext cx="5238750" cy="2059037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5"/>
          <p:cNvSpPr txBox="1"/>
          <p:nvPr/>
        </p:nvSpPr>
        <p:spPr>
          <a:xfrm>
            <a:off x="571500" y="325204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Scope: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End-to-end data analysis pipeline.</a:t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571500" y="374734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Main Areas: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Data ingestion, cleaning, feature engineering, visualization, export.</a:t>
            </a:r>
            <a:endParaRPr/>
          </a:p>
        </p:txBody>
      </p:sp>
      <p:sp>
        <p:nvSpPr>
          <p:cNvPr id="349" name="Google Shape;349;p25"/>
          <p:cNvSpPr txBox="1"/>
          <p:nvPr/>
        </p:nvSpPr>
        <p:spPr>
          <a:xfrm>
            <a:off x="571500" y="454744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Output: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Charts + cleaned CSV.</a:t>
            </a:r>
            <a:endParaRPr/>
          </a:p>
        </p:txBody>
      </p:sp>
      <p:sp>
        <p:nvSpPr>
          <p:cNvPr id="350" name="Google Shape;350;p25"/>
          <p:cNvSpPr txBox="1"/>
          <p:nvPr/>
        </p:nvSpPr>
        <p:spPr>
          <a:xfrm>
            <a:off x="6677025" y="3522761"/>
            <a:ext cx="46482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"This project uses a complete Python pipeline to turn raw railway transactions into visual insights."</a:t>
            </a:r>
            <a:endParaRPr/>
          </a:p>
        </p:txBody>
      </p:sp>
      <p:sp>
        <p:nvSpPr>
          <p:cNvPr id="351" name="Google Shape;351;p25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Python Analysis Workflow (Overview)</a:t>
            </a:r>
            <a:endParaRPr/>
          </a:p>
        </p:txBody>
      </p:sp>
      <p:sp>
        <p:nvSpPr>
          <p:cNvPr id="352" name="Google Shape;352;p25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6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Setup &amp; Loading</a:t>
            </a: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75;p27" descr="image.png">
            <a:extLst>
              <a:ext uri="{FF2B5EF4-FFF2-40B4-BE49-F238E27FC236}">
                <a16:creationId xmlns:a16="http://schemas.microsoft.com/office/drawing/2014/main" id="{33A3B5FC-5AA7-A260-DDB8-594E2E39643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0311"/>
            <a:ext cx="10906626" cy="44018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F60CD4-7203-7E11-C716-5148B894998B}"/>
              </a:ext>
            </a:extLst>
          </p:cNvPr>
          <p:cNvSpPr txBox="1"/>
          <p:nvPr/>
        </p:nvSpPr>
        <p:spPr>
          <a:xfrm>
            <a:off x="881312" y="2078430"/>
            <a:ext cx="1005539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738195"/>
                </a:solidFill>
              </a:rPr>
              <a:t>Description: Setting up the analytical environment and importing the raw dataset to begin the project.</a:t>
            </a:r>
            <a:endParaRPr lang="ar-EG" sz="2400" dirty="0">
              <a:solidFill>
                <a:srgbClr val="738195"/>
              </a:solidFill>
            </a:endParaRPr>
          </a:p>
          <a:p>
            <a:endParaRPr lang="ar-EG" sz="2400" dirty="0">
              <a:solidFill>
                <a:srgbClr val="738195"/>
              </a:solidFill>
            </a:endParaRPr>
          </a:p>
          <a:p>
            <a:r>
              <a:rPr lang="en-US" sz="2400" dirty="0">
                <a:solidFill>
                  <a:srgbClr val="738195"/>
                </a:solidFill>
              </a:rPr>
              <a:t>Techniques Used (Code Logic):</a:t>
            </a:r>
            <a:endParaRPr lang="ar-EG" sz="2400" dirty="0">
              <a:solidFill>
                <a:srgbClr val="73819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38195"/>
                </a:solidFill>
              </a:rPr>
              <a:t>Import Libraries: Importing Pandas (for data manipulation), NumPy (for calculations), Matplotlib &amp; Seaborn (for visualization).</a:t>
            </a:r>
            <a:endParaRPr lang="ar-EG" sz="2400" dirty="0">
              <a:solidFill>
                <a:srgbClr val="73819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38195"/>
                </a:solidFill>
              </a:rPr>
              <a:t>Data Loading: Using </a:t>
            </a:r>
            <a:r>
              <a:rPr lang="en-US" sz="2400" dirty="0" err="1">
                <a:solidFill>
                  <a:srgbClr val="738195"/>
                </a:solidFill>
              </a:rPr>
              <a:t>pd.read_csv</a:t>
            </a:r>
            <a:r>
              <a:rPr lang="en-US" sz="2400" dirty="0">
                <a:solidFill>
                  <a:srgbClr val="738195"/>
                </a:solidFill>
              </a:rPr>
              <a:t>() to ingest the dataset.</a:t>
            </a:r>
            <a:endParaRPr lang="ar-EG" sz="2400" dirty="0">
              <a:solidFill>
                <a:srgbClr val="738195"/>
              </a:solidFill>
            </a:endParaRPr>
          </a:p>
          <a:p>
            <a:endParaRPr lang="ar-EG" sz="2400" dirty="0">
              <a:solidFill>
                <a:srgbClr val="73819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38195"/>
                </a:solidFill>
              </a:rPr>
              <a:t>Exploratory Data Analysis (EDA): Using df.info(), </a:t>
            </a:r>
            <a:r>
              <a:rPr lang="en-US" sz="2400" dirty="0" err="1">
                <a:solidFill>
                  <a:srgbClr val="738195"/>
                </a:solidFill>
              </a:rPr>
              <a:t>df.describe</a:t>
            </a:r>
            <a:r>
              <a:rPr lang="en-US" sz="2400" dirty="0">
                <a:solidFill>
                  <a:srgbClr val="738195"/>
                </a:solidFill>
              </a:rPr>
              <a:t>(), and </a:t>
            </a:r>
            <a:r>
              <a:rPr lang="en-US" sz="2400" dirty="0" err="1">
                <a:solidFill>
                  <a:srgbClr val="738195"/>
                </a:solidFill>
              </a:rPr>
              <a:t>df.isnull</a:t>
            </a:r>
            <a:r>
              <a:rPr lang="en-US" sz="2400" dirty="0">
                <a:solidFill>
                  <a:srgbClr val="738195"/>
                </a:solidFill>
              </a:rPr>
              <a:t>().sum() to understand the data structure and quality.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1770310"/>
            <a:ext cx="10693561" cy="4425953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7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Cleaning</a:t>
            </a:r>
            <a:endParaRPr/>
          </a:p>
        </p:txBody>
      </p:sp>
      <p:sp>
        <p:nvSpPr>
          <p:cNvPr id="390" name="Google Shape;390;p27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656C3-8855-67FE-07F9-3A5D76C6D833}"/>
              </a:ext>
            </a:extLst>
          </p:cNvPr>
          <p:cNvSpPr txBox="1"/>
          <p:nvPr/>
        </p:nvSpPr>
        <p:spPr>
          <a:xfrm>
            <a:off x="762000" y="1984147"/>
            <a:ext cx="1024539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738195"/>
                </a:solidFill>
              </a:rPr>
              <a:t>Description: The most critical phase to ensure accuracy by fixing errors and formatting data for analysis.</a:t>
            </a:r>
            <a:endParaRPr lang="ar-EG" sz="1800" dirty="0">
              <a:solidFill>
                <a:srgbClr val="738195"/>
              </a:solidFill>
            </a:endParaRPr>
          </a:p>
          <a:p>
            <a:endParaRPr lang="ar-EG" sz="1800" dirty="0">
              <a:solidFill>
                <a:srgbClr val="738195"/>
              </a:solidFill>
            </a:endParaRPr>
          </a:p>
          <a:p>
            <a:r>
              <a:rPr lang="en-US" sz="1800" dirty="0">
                <a:solidFill>
                  <a:srgbClr val="738195"/>
                </a:solidFill>
              </a:rPr>
              <a:t>Techniques Used (Code Logic):</a:t>
            </a:r>
            <a:endParaRPr lang="ar-EG" sz="1800" dirty="0">
              <a:solidFill>
                <a:srgbClr val="7381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38195"/>
                </a:solidFill>
              </a:rPr>
              <a:t>Text Cleaning: Removing extra whitespace using .</a:t>
            </a:r>
            <a:r>
              <a:rPr lang="en-US" sz="1800" dirty="0" err="1">
                <a:solidFill>
                  <a:srgbClr val="738195"/>
                </a:solidFill>
              </a:rPr>
              <a:t>str.strip</a:t>
            </a:r>
            <a:r>
              <a:rPr lang="en-US" sz="1800" dirty="0">
                <a:solidFill>
                  <a:srgbClr val="738195"/>
                </a:solidFill>
              </a:rPr>
              <a:t>() to ensure consistency.</a:t>
            </a:r>
            <a:endParaRPr lang="ar-EG" sz="1800" dirty="0">
              <a:solidFill>
                <a:srgbClr val="738195"/>
              </a:solidFill>
            </a:endParaRPr>
          </a:p>
          <a:p>
            <a:r>
              <a:rPr lang="ar-EG" sz="1800" dirty="0">
                <a:solidFill>
                  <a:srgbClr val="738195"/>
                </a:solidFill>
              </a:rPr>
              <a:t>    </a:t>
            </a:r>
            <a:r>
              <a:rPr lang="en-US" sz="1800" dirty="0">
                <a:solidFill>
                  <a:srgbClr val="738195"/>
                </a:solidFill>
              </a:rPr>
              <a:t>Handling Duplicates: Removing duplicate entries using </a:t>
            </a:r>
            <a:r>
              <a:rPr lang="en-US" sz="1800" dirty="0" err="1">
                <a:solidFill>
                  <a:srgbClr val="738195"/>
                </a:solidFill>
              </a:rPr>
              <a:t>drop_duplicates</a:t>
            </a:r>
            <a:r>
              <a:rPr lang="en-US" sz="1800" dirty="0">
                <a:solidFill>
                  <a:srgbClr val="738195"/>
                </a:solidFill>
              </a:rPr>
              <a:t>().</a:t>
            </a:r>
            <a:endParaRPr lang="ar-EG" sz="1800" dirty="0">
              <a:solidFill>
                <a:srgbClr val="7381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38195"/>
                </a:solidFill>
              </a:rPr>
              <a:t>Date Conversion: Converting string columns to datetime objects using </a:t>
            </a:r>
            <a:r>
              <a:rPr lang="en-US" sz="1800" dirty="0" err="1">
                <a:solidFill>
                  <a:srgbClr val="738195"/>
                </a:solidFill>
              </a:rPr>
              <a:t>pd.to_datetime</a:t>
            </a:r>
            <a:r>
              <a:rPr lang="en-US" sz="1800" dirty="0">
                <a:solidFill>
                  <a:srgbClr val="738195"/>
                </a:solidFill>
              </a:rPr>
              <a:t>() to enable time-series analysis.</a:t>
            </a:r>
            <a:endParaRPr lang="ar-EG" sz="1800" dirty="0">
              <a:solidFill>
                <a:srgbClr val="7381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38195"/>
                </a:solidFill>
              </a:rPr>
              <a:t>Missing Values Treatment: Imputing null values using </a:t>
            </a:r>
            <a:r>
              <a:rPr lang="en-US" sz="1800" dirty="0" err="1">
                <a:solidFill>
                  <a:srgbClr val="738195"/>
                </a:solidFill>
              </a:rPr>
              <a:t>fillna</a:t>
            </a:r>
            <a:r>
              <a:rPr lang="en-US" sz="1800" dirty="0">
                <a:solidFill>
                  <a:srgbClr val="738195"/>
                </a:solidFill>
              </a:rPr>
              <a:t>() (e.g., filling missing delay reasons with "No Delay").</a:t>
            </a:r>
            <a:endParaRPr lang="ar-EG" sz="1800" dirty="0">
              <a:solidFill>
                <a:srgbClr val="7381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38195"/>
                </a:solidFill>
              </a:rPr>
              <a:t>Standardization: Unifying terminology (e.g., renaming "Signal failure" to "Signal Failure") using .replace().</a:t>
            </a:r>
            <a:endParaRPr lang="ar-EG" sz="1800" dirty="0">
              <a:solidFill>
                <a:srgbClr val="73819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38195"/>
                </a:solidFill>
              </a:rPr>
              <a:t>Feature Engineering: Creating a new Routes column by combining Departure and Arrival stations to facilitate route analysis.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99655"/>
            <a:ext cx="349240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3199655"/>
            <a:ext cx="3492549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3199655"/>
            <a:ext cx="349240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9"/>
          <p:cNvSpPr txBox="1"/>
          <p:nvPr/>
        </p:nvSpPr>
        <p:spPr>
          <a:xfrm>
            <a:off x="571500" y="206618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Directories: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save_path = "D:/Railway_Charts" (os.makedirs).</a:t>
            </a:r>
            <a:endParaRPr/>
          </a:p>
        </p:txBody>
      </p:sp>
      <p:sp>
        <p:nvSpPr>
          <p:cNvPr id="413" name="Google Shape;413;p29"/>
          <p:cNvSpPr txBox="1"/>
          <p:nvPr/>
        </p:nvSpPr>
        <p:spPr>
          <a:xfrm>
            <a:off x="571500" y="256148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Settings: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sns.set_style("whitegrid"). Custom palette for consistent branding (blue tones).</a:t>
            </a:r>
            <a:endParaRPr/>
          </a:p>
        </p:txBody>
      </p:sp>
      <p:pic>
        <p:nvPicPr>
          <p:cNvPr id="414" name="Google Shape;414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27200" y="348540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 txBox="1"/>
          <p:nvPr/>
        </p:nvSpPr>
        <p:spPr>
          <a:xfrm>
            <a:off x="784227" y="4323605"/>
            <a:ext cx="306694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Sales Scope</a:t>
            </a:r>
            <a:endParaRPr/>
          </a:p>
        </p:txBody>
      </p:sp>
      <p:sp>
        <p:nvSpPr>
          <p:cNvPr id="416" name="Google Shape;416;p29"/>
          <p:cNvSpPr txBox="1"/>
          <p:nvPr/>
        </p:nvSpPr>
        <p:spPr>
          <a:xfrm>
            <a:off x="857250" y="483795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Revenue (Net/Gross), Price by ticket class, Railcard impact.</a:t>
            </a:r>
            <a:endParaRPr/>
          </a:p>
        </p:txBody>
      </p:sp>
      <p:pic>
        <p:nvPicPr>
          <p:cNvPr id="417" name="Google Shape;417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348540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9"/>
          <p:cNvSpPr txBox="1"/>
          <p:nvPr/>
        </p:nvSpPr>
        <p:spPr>
          <a:xfrm>
            <a:off x="4562374" y="4323605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Customer Scope</a:t>
            </a:r>
            <a:endParaRPr/>
          </a:p>
        </p:txBody>
      </p:sp>
      <p:sp>
        <p:nvSpPr>
          <p:cNvPr id="419" name="Google Shape;419;p29"/>
          <p:cNvSpPr txBox="1"/>
          <p:nvPr/>
        </p:nvSpPr>
        <p:spPr>
          <a:xfrm>
            <a:off x="4635400" y="483795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Payment methods, Railcard usage, Refund requests by payment channel.</a:t>
            </a:r>
            <a:endParaRPr/>
          </a:p>
        </p:txBody>
      </p:sp>
      <p:pic>
        <p:nvPicPr>
          <p:cNvPr id="420" name="Google Shape;420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07463" y="348540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9"/>
          <p:cNvSpPr txBox="1"/>
          <p:nvPr/>
        </p:nvSpPr>
        <p:spPr>
          <a:xfrm>
            <a:off x="8340677" y="4323605"/>
            <a:ext cx="306694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Operation Scope</a:t>
            </a:r>
            <a:endParaRPr/>
          </a:p>
        </p:txBody>
      </p:sp>
      <p:sp>
        <p:nvSpPr>
          <p:cNvPr id="422" name="Google Shape;422;p29"/>
          <p:cNvSpPr txBox="1"/>
          <p:nvPr/>
        </p:nvSpPr>
        <p:spPr>
          <a:xfrm>
            <a:off x="8413700" y="4837955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Journey status, Delay reasons, Peak delay times, Cancellation rates.</a:t>
            </a:r>
            <a:endParaRPr/>
          </a:p>
        </p:txBody>
      </p:sp>
      <p:sp>
        <p:nvSpPr>
          <p:cNvPr id="423" name="Google Shape;423;p29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Visualization Setup &amp; Analysis Scopes</a:t>
            </a:r>
            <a:endParaRPr/>
          </a:p>
        </p:txBody>
      </p:sp>
      <p:sp>
        <p:nvSpPr>
          <p:cNvPr id="424" name="Google Shape;424;p29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>
          <a:extLst>
            <a:ext uri="{FF2B5EF4-FFF2-40B4-BE49-F238E27FC236}">
              <a16:creationId xmlns:a16="http://schemas.microsoft.com/office/drawing/2014/main" id="{00C19CAE-05FD-2CB1-9088-B1518521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6" descr="image.png">
            <a:extLst>
              <a:ext uri="{FF2B5EF4-FFF2-40B4-BE49-F238E27FC236}">
                <a16:creationId xmlns:a16="http://schemas.microsoft.com/office/drawing/2014/main" id="{B264E116-58A0-A8D3-E6AB-4396B7AB04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6">
            <a:extLst>
              <a:ext uri="{FF2B5EF4-FFF2-40B4-BE49-F238E27FC236}">
                <a16:creationId xmlns:a16="http://schemas.microsoft.com/office/drawing/2014/main" id="{CC4B2264-E565-F248-E562-94BE5CFB3D7D}"/>
              </a:ext>
            </a:extLst>
          </p:cNvPr>
          <p:cNvSpPr txBox="1"/>
          <p:nvPr/>
        </p:nvSpPr>
        <p:spPr>
          <a:xfrm>
            <a:off x="762000" y="903535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150" b="1" dirty="0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Sales Scope Analysis</a:t>
            </a:r>
            <a:endParaRPr sz="3150" b="1" dirty="0">
              <a:solidFill>
                <a:srgbClr val="F8FAFC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369" name="Google Shape;369;p26">
            <a:extLst>
              <a:ext uri="{FF2B5EF4-FFF2-40B4-BE49-F238E27FC236}">
                <a16:creationId xmlns:a16="http://schemas.microsoft.com/office/drawing/2014/main" id="{0D4A7D3D-5868-9BDB-465A-97CCBF833AFB}"/>
              </a:ext>
            </a:extLst>
          </p:cNvPr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75;p27" descr="image.png">
            <a:extLst>
              <a:ext uri="{FF2B5EF4-FFF2-40B4-BE49-F238E27FC236}">
                <a16:creationId xmlns:a16="http://schemas.microsoft.com/office/drawing/2014/main" id="{3B354ED6-A173-7C61-E437-115E96BA28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0311"/>
            <a:ext cx="10906626" cy="44018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E19704-18E9-6C9C-ECF5-120F714EE510}"/>
              </a:ext>
            </a:extLst>
          </p:cNvPr>
          <p:cNvSpPr txBox="1"/>
          <p:nvPr/>
        </p:nvSpPr>
        <p:spPr>
          <a:xfrm>
            <a:off x="881312" y="1893764"/>
            <a:ext cx="1005539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738195"/>
                </a:solidFill>
              </a:rPr>
              <a:t>Description: Analyzing financial performance and identifying key revenue drivers.</a:t>
            </a:r>
            <a:endParaRPr lang="ar-EG" sz="2400" dirty="0">
              <a:solidFill>
                <a:srgbClr val="738195"/>
              </a:solidFill>
            </a:endParaRPr>
          </a:p>
          <a:p>
            <a:endParaRPr lang="ar-EG" sz="2400" dirty="0">
              <a:solidFill>
                <a:srgbClr val="738195"/>
              </a:solidFill>
            </a:endParaRPr>
          </a:p>
          <a:p>
            <a:r>
              <a:rPr lang="en-US" sz="2400" dirty="0">
                <a:solidFill>
                  <a:srgbClr val="738195"/>
                </a:solidFill>
              </a:rPr>
              <a:t>Techniques Used (Code Logic):</a:t>
            </a:r>
            <a:endParaRPr lang="ar-EG" sz="2400" dirty="0">
              <a:solidFill>
                <a:srgbClr val="73819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38195"/>
                </a:solidFill>
              </a:rPr>
              <a:t>KPI Calculation: Calculating Total Revenue (.sum()) and Average Ticket Price (.mean()).</a:t>
            </a:r>
            <a:endParaRPr lang="ar-EG" sz="2400" dirty="0">
              <a:solidFill>
                <a:srgbClr val="73819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38195"/>
                </a:solidFill>
              </a:rPr>
              <a:t>Categorical Analysis: Analyzing prices based on Ticket Class and Ticket Type using Bar Charts.</a:t>
            </a:r>
            <a:endParaRPr lang="ar-EG" sz="2400" dirty="0">
              <a:solidFill>
                <a:srgbClr val="73819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38195"/>
                </a:solidFill>
              </a:rPr>
              <a:t>Top Performers: Identifying the "Top 10 Routes by Revenue" using .</a:t>
            </a:r>
            <a:r>
              <a:rPr lang="en-US" sz="2400" dirty="0" err="1">
                <a:solidFill>
                  <a:srgbClr val="738195"/>
                </a:solidFill>
              </a:rPr>
              <a:t>groupby</a:t>
            </a:r>
            <a:r>
              <a:rPr lang="en-US" sz="2400" dirty="0">
                <a:solidFill>
                  <a:srgbClr val="738195"/>
                </a:solidFill>
              </a:rPr>
              <a:t>() and .</a:t>
            </a:r>
            <a:r>
              <a:rPr lang="en-US" sz="2400" dirty="0" err="1">
                <a:solidFill>
                  <a:srgbClr val="738195"/>
                </a:solidFill>
              </a:rPr>
              <a:t>sort_values</a:t>
            </a:r>
            <a:r>
              <a:rPr lang="en-US" sz="2400" dirty="0">
                <a:solidFill>
                  <a:srgbClr val="738195"/>
                </a:solidFill>
              </a:rPr>
              <a:t>().</a:t>
            </a:r>
            <a:endParaRPr lang="ar-EG" sz="2400" dirty="0">
              <a:solidFill>
                <a:srgbClr val="73819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38195"/>
                </a:solidFill>
              </a:rPr>
              <a:t>Time Series: Tracking revenue trends over time using Line Plots.</a:t>
            </a:r>
          </a:p>
        </p:txBody>
      </p:sp>
    </p:spTree>
    <p:extLst>
      <p:ext uri="{BB962C8B-B14F-4D97-AF65-F5344CB8AC3E}">
        <p14:creationId xmlns:p14="http://schemas.microsoft.com/office/powerpoint/2010/main" val="2218931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>
          <a:extLst>
            <a:ext uri="{FF2B5EF4-FFF2-40B4-BE49-F238E27FC236}">
              <a16:creationId xmlns:a16="http://schemas.microsoft.com/office/drawing/2014/main" id="{C1CF2FE4-5DEC-5B1B-EDE8-C4E9A224A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6" descr="image.png">
            <a:extLst>
              <a:ext uri="{FF2B5EF4-FFF2-40B4-BE49-F238E27FC236}">
                <a16:creationId xmlns:a16="http://schemas.microsoft.com/office/drawing/2014/main" id="{5D9785D6-61BA-A567-85DA-687D3E352A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6">
            <a:extLst>
              <a:ext uri="{FF2B5EF4-FFF2-40B4-BE49-F238E27FC236}">
                <a16:creationId xmlns:a16="http://schemas.microsoft.com/office/drawing/2014/main" id="{1D7E8034-4764-0621-5091-7326E7117543}"/>
              </a:ext>
            </a:extLst>
          </p:cNvPr>
          <p:cNvSpPr txBox="1"/>
          <p:nvPr/>
        </p:nvSpPr>
        <p:spPr>
          <a:xfrm>
            <a:off x="704850" y="447187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150" b="1" dirty="0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Sales Scope Analysis</a:t>
            </a:r>
            <a:endParaRPr sz="3150" b="1" dirty="0">
              <a:solidFill>
                <a:srgbClr val="F8FAFC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369" name="Google Shape;369;p26">
            <a:extLst>
              <a:ext uri="{FF2B5EF4-FFF2-40B4-BE49-F238E27FC236}">
                <a16:creationId xmlns:a16="http://schemas.microsoft.com/office/drawing/2014/main" id="{8FC601CB-2DC4-E0D6-E374-74672E5BDFEC}"/>
              </a:ext>
            </a:extLst>
          </p:cNvPr>
          <p:cNvSpPr/>
          <p:nvPr/>
        </p:nvSpPr>
        <p:spPr>
          <a:xfrm>
            <a:off x="577265" y="447187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75;p27" descr="image.png">
            <a:extLst>
              <a:ext uri="{FF2B5EF4-FFF2-40B4-BE49-F238E27FC236}">
                <a16:creationId xmlns:a16="http://schemas.microsoft.com/office/drawing/2014/main" id="{3B1D0C82-2014-D912-C691-AF53F7BDD7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67064"/>
            <a:ext cx="11087100" cy="543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group of blue bars&#10;&#10;AI-generated content may be incorrect.">
            <a:extLst>
              <a:ext uri="{FF2B5EF4-FFF2-40B4-BE49-F238E27FC236}">
                <a16:creationId xmlns:a16="http://schemas.microsoft.com/office/drawing/2014/main" id="{34617DAD-455B-AFC2-CDCD-AB1555D26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0025" y="1386817"/>
            <a:ext cx="8171949" cy="516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16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>
          <a:extLst>
            <a:ext uri="{FF2B5EF4-FFF2-40B4-BE49-F238E27FC236}">
              <a16:creationId xmlns:a16="http://schemas.microsoft.com/office/drawing/2014/main" id="{0B205FE4-A111-7EA3-C3BF-F8B2C41AD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6" descr="image.png">
            <a:extLst>
              <a:ext uri="{FF2B5EF4-FFF2-40B4-BE49-F238E27FC236}">
                <a16:creationId xmlns:a16="http://schemas.microsoft.com/office/drawing/2014/main" id="{E86935BA-88FC-3693-374F-F8E8005856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6">
            <a:extLst>
              <a:ext uri="{FF2B5EF4-FFF2-40B4-BE49-F238E27FC236}">
                <a16:creationId xmlns:a16="http://schemas.microsoft.com/office/drawing/2014/main" id="{B5E927A5-1C23-7978-0224-C109A156C34D}"/>
              </a:ext>
            </a:extLst>
          </p:cNvPr>
          <p:cNvSpPr txBox="1"/>
          <p:nvPr/>
        </p:nvSpPr>
        <p:spPr>
          <a:xfrm>
            <a:off x="762000" y="903535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Customer</a:t>
            </a:r>
            <a:r>
              <a:rPr lang="en-US" sz="3150" b="1" dirty="0">
                <a:solidFill>
                  <a:schemeClr val="bg1"/>
                </a:solidFill>
                <a:latin typeface="Urbanist"/>
                <a:ea typeface="Urbanist"/>
                <a:cs typeface="Urbanist"/>
              </a:rPr>
              <a:t> Scope Analysis</a:t>
            </a:r>
            <a:endParaRPr sz="3150" b="1" dirty="0">
              <a:solidFill>
                <a:schemeClr val="bg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369" name="Google Shape;369;p26">
            <a:extLst>
              <a:ext uri="{FF2B5EF4-FFF2-40B4-BE49-F238E27FC236}">
                <a16:creationId xmlns:a16="http://schemas.microsoft.com/office/drawing/2014/main" id="{AC473A10-48FB-C609-B874-DCFC2344A795}"/>
              </a:ext>
            </a:extLst>
          </p:cNvPr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75;p27" descr="image.png">
            <a:extLst>
              <a:ext uri="{FF2B5EF4-FFF2-40B4-BE49-F238E27FC236}">
                <a16:creationId xmlns:a16="http://schemas.microsoft.com/office/drawing/2014/main" id="{57DE7E51-5CC2-9C12-0F8E-E6BA48CA6FB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0311"/>
            <a:ext cx="10906626" cy="44018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227CB5-A8FB-2442-B5C1-3C842C9611D8}"/>
              </a:ext>
            </a:extLst>
          </p:cNvPr>
          <p:cNvSpPr txBox="1"/>
          <p:nvPr/>
        </p:nvSpPr>
        <p:spPr>
          <a:xfrm>
            <a:off x="881312" y="1893764"/>
            <a:ext cx="1005539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738195"/>
                </a:solidFill>
              </a:rPr>
              <a:t>Description: Analyzing financial performance and identifying key revenue drivers.</a:t>
            </a:r>
            <a:endParaRPr lang="ar-EG" sz="2400" dirty="0">
              <a:solidFill>
                <a:srgbClr val="738195"/>
              </a:solidFill>
            </a:endParaRPr>
          </a:p>
          <a:p>
            <a:endParaRPr lang="ar-EG" sz="2400" dirty="0">
              <a:solidFill>
                <a:srgbClr val="738195"/>
              </a:solidFill>
            </a:endParaRPr>
          </a:p>
          <a:p>
            <a:r>
              <a:rPr lang="en-US" sz="2400" dirty="0">
                <a:solidFill>
                  <a:srgbClr val="738195"/>
                </a:solidFill>
              </a:rPr>
              <a:t>Techniques Used (Code Logic):</a:t>
            </a:r>
            <a:endParaRPr lang="ar-EG" sz="2400" dirty="0">
              <a:solidFill>
                <a:srgbClr val="73819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38195"/>
                </a:solidFill>
              </a:rPr>
              <a:t>KPI Calculation: Calculating Total Revenue (.sum()) and Average Ticket Price (.mean()).</a:t>
            </a:r>
            <a:endParaRPr lang="ar-EG" sz="2400" dirty="0">
              <a:solidFill>
                <a:srgbClr val="73819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38195"/>
                </a:solidFill>
              </a:rPr>
              <a:t>Categorical Analysis: Analyzing prices based on Ticket Class and Ticket Type using Bar Charts.</a:t>
            </a:r>
            <a:endParaRPr lang="ar-EG" sz="2400" dirty="0">
              <a:solidFill>
                <a:srgbClr val="73819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38195"/>
                </a:solidFill>
              </a:rPr>
              <a:t>Top Performers: Identifying the "Top 10 Routes by Revenue" using .</a:t>
            </a:r>
            <a:r>
              <a:rPr lang="en-US" sz="2400" dirty="0" err="1">
                <a:solidFill>
                  <a:srgbClr val="738195"/>
                </a:solidFill>
              </a:rPr>
              <a:t>groupby</a:t>
            </a:r>
            <a:r>
              <a:rPr lang="en-US" sz="2400" dirty="0">
                <a:solidFill>
                  <a:srgbClr val="738195"/>
                </a:solidFill>
              </a:rPr>
              <a:t>() and .</a:t>
            </a:r>
            <a:r>
              <a:rPr lang="en-US" sz="2400" dirty="0" err="1">
                <a:solidFill>
                  <a:srgbClr val="738195"/>
                </a:solidFill>
              </a:rPr>
              <a:t>sort_values</a:t>
            </a:r>
            <a:r>
              <a:rPr lang="en-US" sz="2400" dirty="0">
                <a:solidFill>
                  <a:srgbClr val="738195"/>
                </a:solidFill>
              </a:rPr>
              <a:t>().</a:t>
            </a:r>
            <a:endParaRPr lang="ar-EG" sz="2400" dirty="0">
              <a:solidFill>
                <a:srgbClr val="73819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38195"/>
                </a:solidFill>
              </a:rPr>
              <a:t>Time Series: Tracking revenue trends over time using Line Plots.</a:t>
            </a:r>
          </a:p>
        </p:txBody>
      </p:sp>
    </p:spTree>
    <p:extLst>
      <p:ext uri="{BB962C8B-B14F-4D97-AF65-F5344CB8AC3E}">
        <p14:creationId xmlns:p14="http://schemas.microsoft.com/office/powerpoint/2010/main" val="1540696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>
          <a:extLst>
            <a:ext uri="{FF2B5EF4-FFF2-40B4-BE49-F238E27FC236}">
              <a16:creationId xmlns:a16="http://schemas.microsoft.com/office/drawing/2014/main" id="{52C3F3EB-5776-4991-638F-C8A2A0EE1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6" descr="image.png">
            <a:extLst>
              <a:ext uri="{FF2B5EF4-FFF2-40B4-BE49-F238E27FC236}">
                <a16:creationId xmlns:a16="http://schemas.microsoft.com/office/drawing/2014/main" id="{C3AB143E-1959-5D3D-1C4D-D414C05108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6">
            <a:extLst>
              <a:ext uri="{FF2B5EF4-FFF2-40B4-BE49-F238E27FC236}">
                <a16:creationId xmlns:a16="http://schemas.microsoft.com/office/drawing/2014/main" id="{A1C60DC7-97BE-4AA7-40E6-ADC53E60AE27}"/>
              </a:ext>
            </a:extLst>
          </p:cNvPr>
          <p:cNvSpPr txBox="1"/>
          <p:nvPr/>
        </p:nvSpPr>
        <p:spPr>
          <a:xfrm>
            <a:off x="704850" y="447187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Customer</a:t>
            </a:r>
            <a:r>
              <a:rPr lang="en-US" sz="3150" b="1" dirty="0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 Scope Analysis</a:t>
            </a:r>
            <a:endParaRPr sz="3150" b="1" dirty="0">
              <a:solidFill>
                <a:srgbClr val="F8FAFC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369" name="Google Shape;369;p26">
            <a:extLst>
              <a:ext uri="{FF2B5EF4-FFF2-40B4-BE49-F238E27FC236}">
                <a16:creationId xmlns:a16="http://schemas.microsoft.com/office/drawing/2014/main" id="{7B24C810-AE1A-05CA-2CAC-E8FB3DD0C3E6}"/>
              </a:ext>
            </a:extLst>
          </p:cNvPr>
          <p:cNvSpPr/>
          <p:nvPr/>
        </p:nvSpPr>
        <p:spPr>
          <a:xfrm>
            <a:off x="577265" y="447187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75;p27" descr="image.png">
            <a:extLst>
              <a:ext uri="{FF2B5EF4-FFF2-40B4-BE49-F238E27FC236}">
                <a16:creationId xmlns:a16="http://schemas.microsoft.com/office/drawing/2014/main" id="{AA9F2123-C8BB-3CAF-7C40-534DC47E9A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67064"/>
            <a:ext cx="11087100" cy="543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close-up of a graph&#10;&#10;AI-generated content may be incorrect.">
            <a:extLst>
              <a:ext uri="{FF2B5EF4-FFF2-40B4-BE49-F238E27FC236}">
                <a16:creationId xmlns:a16="http://schemas.microsoft.com/office/drawing/2014/main" id="{2892746F-34CA-16B5-5663-1738E5C722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285" y="1416050"/>
            <a:ext cx="9043429" cy="499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311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>
          <a:extLst>
            <a:ext uri="{FF2B5EF4-FFF2-40B4-BE49-F238E27FC236}">
              <a16:creationId xmlns:a16="http://schemas.microsoft.com/office/drawing/2014/main" id="{42256A10-4888-CE8B-7956-4F6A88EFC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6" descr="image.png">
            <a:extLst>
              <a:ext uri="{FF2B5EF4-FFF2-40B4-BE49-F238E27FC236}">
                <a16:creationId xmlns:a16="http://schemas.microsoft.com/office/drawing/2014/main" id="{B238DA29-5641-655B-EEB5-28F482E957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6">
            <a:extLst>
              <a:ext uri="{FF2B5EF4-FFF2-40B4-BE49-F238E27FC236}">
                <a16:creationId xmlns:a16="http://schemas.microsoft.com/office/drawing/2014/main" id="{E14F5486-BFBE-CF67-7174-0E115F303427}"/>
              </a:ext>
            </a:extLst>
          </p:cNvPr>
          <p:cNvSpPr txBox="1"/>
          <p:nvPr/>
        </p:nvSpPr>
        <p:spPr>
          <a:xfrm>
            <a:off x="762000" y="903535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150" b="1" dirty="0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Operation  Scope Analysis</a:t>
            </a:r>
            <a:endParaRPr sz="3150" b="1" dirty="0">
              <a:solidFill>
                <a:srgbClr val="F8FAFC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369" name="Google Shape;369;p26">
            <a:extLst>
              <a:ext uri="{FF2B5EF4-FFF2-40B4-BE49-F238E27FC236}">
                <a16:creationId xmlns:a16="http://schemas.microsoft.com/office/drawing/2014/main" id="{CDCD198F-1CE7-507C-40A3-A008DC9108E4}"/>
              </a:ext>
            </a:extLst>
          </p:cNvPr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75;p27" descr="image.png">
            <a:extLst>
              <a:ext uri="{FF2B5EF4-FFF2-40B4-BE49-F238E27FC236}">
                <a16:creationId xmlns:a16="http://schemas.microsoft.com/office/drawing/2014/main" id="{DE9C18B3-F5D7-3775-23AD-DCCB55B4E4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0311"/>
            <a:ext cx="10906626" cy="44018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A71672-A5B2-8BD9-7341-1EFC739E3E3F}"/>
              </a:ext>
            </a:extLst>
          </p:cNvPr>
          <p:cNvSpPr txBox="1"/>
          <p:nvPr/>
        </p:nvSpPr>
        <p:spPr>
          <a:xfrm>
            <a:off x="881312" y="1893764"/>
            <a:ext cx="1005539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738195"/>
                </a:solidFill>
              </a:rPr>
              <a:t>Description: Analyzing financial performance and identifying key revenue drivers.</a:t>
            </a:r>
            <a:endParaRPr lang="ar-EG" sz="2400" dirty="0">
              <a:solidFill>
                <a:srgbClr val="738195"/>
              </a:solidFill>
            </a:endParaRPr>
          </a:p>
          <a:p>
            <a:endParaRPr lang="ar-EG" sz="2400" dirty="0">
              <a:solidFill>
                <a:srgbClr val="738195"/>
              </a:solidFill>
            </a:endParaRPr>
          </a:p>
          <a:p>
            <a:r>
              <a:rPr lang="en-US" sz="2400" dirty="0">
                <a:solidFill>
                  <a:srgbClr val="738195"/>
                </a:solidFill>
              </a:rPr>
              <a:t>Techniques Used (Code Logic):</a:t>
            </a:r>
            <a:endParaRPr lang="ar-EG" sz="2400" dirty="0">
              <a:solidFill>
                <a:srgbClr val="73819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38195"/>
                </a:solidFill>
              </a:rPr>
              <a:t>KPI Calculation: Calculating Total Revenue (.sum()) and Average Ticket Price (.mean()).</a:t>
            </a:r>
            <a:endParaRPr lang="ar-EG" sz="2400" dirty="0">
              <a:solidFill>
                <a:srgbClr val="73819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38195"/>
                </a:solidFill>
              </a:rPr>
              <a:t>Categorical Analysis: Analyzing prices based on Ticket Class and Ticket Type using Bar Charts.</a:t>
            </a:r>
            <a:endParaRPr lang="ar-EG" sz="2400" dirty="0">
              <a:solidFill>
                <a:srgbClr val="73819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38195"/>
                </a:solidFill>
              </a:rPr>
              <a:t>Top Performers: Identifying the "Top 10 Routes by Revenue" using .</a:t>
            </a:r>
            <a:r>
              <a:rPr lang="en-US" sz="2400" dirty="0" err="1">
                <a:solidFill>
                  <a:srgbClr val="738195"/>
                </a:solidFill>
              </a:rPr>
              <a:t>groupby</a:t>
            </a:r>
            <a:r>
              <a:rPr lang="en-US" sz="2400" dirty="0">
                <a:solidFill>
                  <a:srgbClr val="738195"/>
                </a:solidFill>
              </a:rPr>
              <a:t>() and .</a:t>
            </a:r>
            <a:r>
              <a:rPr lang="en-US" sz="2400" dirty="0" err="1">
                <a:solidFill>
                  <a:srgbClr val="738195"/>
                </a:solidFill>
              </a:rPr>
              <a:t>sort_values</a:t>
            </a:r>
            <a:r>
              <a:rPr lang="en-US" sz="2400" dirty="0">
                <a:solidFill>
                  <a:srgbClr val="738195"/>
                </a:solidFill>
              </a:rPr>
              <a:t>().</a:t>
            </a:r>
            <a:endParaRPr lang="ar-EG" sz="2400" dirty="0">
              <a:solidFill>
                <a:srgbClr val="73819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38195"/>
                </a:solidFill>
              </a:rPr>
              <a:t>Time Series: Tracking revenue trends over time using Line Plots.</a:t>
            </a:r>
          </a:p>
        </p:txBody>
      </p:sp>
    </p:spTree>
    <p:extLst>
      <p:ext uri="{BB962C8B-B14F-4D97-AF65-F5344CB8AC3E}">
        <p14:creationId xmlns:p14="http://schemas.microsoft.com/office/powerpoint/2010/main" val="34777725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>
          <a:extLst>
            <a:ext uri="{FF2B5EF4-FFF2-40B4-BE49-F238E27FC236}">
              <a16:creationId xmlns:a16="http://schemas.microsoft.com/office/drawing/2014/main" id="{659A713C-7F1E-60FC-6948-2CB949F3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6" descr="image.png">
            <a:extLst>
              <a:ext uri="{FF2B5EF4-FFF2-40B4-BE49-F238E27FC236}">
                <a16:creationId xmlns:a16="http://schemas.microsoft.com/office/drawing/2014/main" id="{72B26B7D-007E-C5BB-AF64-A50402D50B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6">
            <a:extLst>
              <a:ext uri="{FF2B5EF4-FFF2-40B4-BE49-F238E27FC236}">
                <a16:creationId xmlns:a16="http://schemas.microsoft.com/office/drawing/2014/main" id="{C39C388F-0685-A5E4-9863-AEB9A69C77D1}"/>
              </a:ext>
            </a:extLst>
          </p:cNvPr>
          <p:cNvSpPr txBox="1"/>
          <p:nvPr/>
        </p:nvSpPr>
        <p:spPr>
          <a:xfrm>
            <a:off x="704850" y="447187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150" b="1" dirty="0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Operation Scope Analysis</a:t>
            </a:r>
            <a:endParaRPr sz="3150" b="1" dirty="0">
              <a:solidFill>
                <a:srgbClr val="F8FAFC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369" name="Google Shape;369;p26">
            <a:extLst>
              <a:ext uri="{FF2B5EF4-FFF2-40B4-BE49-F238E27FC236}">
                <a16:creationId xmlns:a16="http://schemas.microsoft.com/office/drawing/2014/main" id="{047DAE5F-A3EF-2DDE-5C5B-110BE7DA1476}"/>
              </a:ext>
            </a:extLst>
          </p:cNvPr>
          <p:cNvSpPr/>
          <p:nvPr/>
        </p:nvSpPr>
        <p:spPr>
          <a:xfrm>
            <a:off x="577265" y="447187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75;p27" descr="image.png">
            <a:extLst>
              <a:ext uri="{FF2B5EF4-FFF2-40B4-BE49-F238E27FC236}">
                <a16:creationId xmlns:a16="http://schemas.microsoft.com/office/drawing/2014/main" id="{56B64628-1C67-E8C2-7B45-915449C477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67064"/>
            <a:ext cx="11087100" cy="543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close-up of a graph&#10;&#10;AI-generated content may be incorrect.">
            <a:extLst>
              <a:ext uri="{FF2B5EF4-FFF2-40B4-BE49-F238E27FC236}">
                <a16:creationId xmlns:a16="http://schemas.microsoft.com/office/drawing/2014/main" id="{BE6AEED3-7D66-6558-426A-A3E089C995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7894" y="1386817"/>
            <a:ext cx="9388653" cy="507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1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85405"/>
            <a:ext cx="523875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0"/>
          <p:cNvSpPr txBox="1"/>
          <p:nvPr/>
        </p:nvSpPr>
        <p:spPr>
          <a:xfrm>
            <a:off x="571500" y="301868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Export</a:t>
            </a:r>
            <a:endParaRPr/>
          </a:p>
        </p:txBody>
      </p:sp>
      <p:sp>
        <p:nvSpPr>
          <p:cNvPr id="432" name="Google Shape;432;p30"/>
          <p:cNvSpPr txBox="1"/>
          <p:nvPr/>
        </p:nvSpPr>
        <p:spPr>
          <a:xfrm>
            <a:off x="571500" y="485700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Purpose: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Source for Power BI and reproducibility.</a:t>
            </a:r>
            <a:endParaRPr/>
          </a:p>
        </p:txBody>
      </p:sp>
      <p:sp>
        <p:nvSpPr>
          <p:cNvPr id="433" name="Google Shape;433;p30"/>
          <p:cNvSpPr txBox="1"/>
          <p:nvPr/>
        </p:nvSpPr>
        <p:spPr>
          <a:xfrm>
            <a:off x="6381750" y="314250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Summary</a:t>
            </a:r>
            <a:endParaRPr/>
          </a:p>
        </p:txBody>
      </p:sp>
      <p:sp>
        <p:nvSpPr>
          <p:cNvPr id="434" name="Google Shape;434;p30"/>
          <p:cNvSpPr txBox="1"/>
          <p:nvPr/>
        </p:nvSpPr>
        <p:spPr>
          <a:xfrm>
            <a:off x="6724650" y="36187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35" name="Google Shape;435;p30"/>
          <p:cNvSpPr txBox="1"/>
          <p:nvPr/>
        </p:nvSpPr>
        <p:spPr>
          <a:xfrm>
            <a:off x="6762750" y="361875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Inputs: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Raw CSV.</a:t>
            </a:r>
            <a:endParaRPr/>
          </a:p>
        </p:txBody>
      </p:sp>
      <p:sp>
        <p:nvSpPr>
          <p:cNvPr id="436" name="Google Shape;436;p30"/>
          <p:cNvSpPr txBox="1"/>
          <p:nvPr/>
        </p:nvSpPr>
        <p:spPr>
          <a:xfrm>
            <a:off x="6724650" y="401880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37" name="Google Shape;437;p30"/>
          <p:cNvSpPr txBox="1"/>
          <p:nvPr/>
        </p:nvSpPr>
        <p:spPr>
          <a:xfrm>
            <a:off x="6762750" y="401880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Process: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EDA → Cleaning → Engineering → Viz.</a:t>
            </a:r>
            <a:endParaRPr/>
          </a:p>
        </p:txBody>
      </p:sp>
      <p:sp>
        <p:nvSpPr>
          <p:cNvPr id="438" name="Google Shape;438;p30"/>
          <p:cNvSpPr txBox="1"/>
          <p:nvPr/>
        </p:nvSpPr>
        <p:spPr>
          <a:xfrm>
            <a:off x="6724650" y="44188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39" name="Google Shape;439;p30"/>
          <p:cNvSpPr txBox="1"/>
          <p:nvPr/>
        </p:nvSpPr>
        <p:spPr>
          <a:xfrm>
            <a:off x="6762750" y="441885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Value: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Revenue trends, delay causes, operational hotspots.</a:t>
            </a:r>
            <a:endParaRPr/>
          </a:p>
        </p:txBody>
      </p:sp>
      <p:sp>
        <p:nvSpPr>
          <p:cNvPr id="440" name="Google Shape;440;p30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Export &amp; Summary</a:t>
            </a:r>
            <a:endParaRPr/>
          </a:p>
        </p:txBody>
      </p:sp>
      <p:sp>
        <p:nvSpPr>
          <p:cNvPr id="441" name="Google Shape;441;p30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1"/>
          <p:cNvSpPr/>
          <p:nvPr/>
        </p:nvSpPr>
        <p:spPr>
          <a:xfrm>
            <a:off x="5619750" y="2300882"/>
            <a:ext cx="9525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1"/>
          <p:cNvSpPr txBox="1"/>
          <p:nvPr/>
        </p:nvSpPr>
        <p:spPr>
          <a:xfrm>
            <a:off x="1375409" y="3067347"/>
            <a:ext cx="944118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Section 4: Data Modeling for Power BI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2"/>
          <p:cNvSpPr txBox="1"/>
          <p:nvPr/>
        </p:nvSpPr>
        <p:spPr>
          <a:xfrm>
            <a:off x="96202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Fact Table (Fact_Data)</a:t>
            </a:r>
            <a:endParaRPr/>
          </a:p>
        </p:txBody>
      </p:sp>
      <p:sp>
        <p:nvSpPr>
          <p:cNvPr id="457" name="Google Shape;457;p32"/>
          <p:cNvSpPr txBox="1"/>
          <p:nvPr/>
        </p:nvSpPr>
        <p:spPr>
          <a:xfrm>
            <a:off x="962025" y="294188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Role: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Central table containing quantitative data (transactions).</a:t>
            </a:r>
            <a:endParaRPr/>
          </a:p>
        </p:txBody>
      </p:sp>
      <p:sp>
        <p:nvSpPr>
          <p:cNvPr id="458" name="Google Shape;458;p32"/>
          <p:cNvSpPr txBox="1"/>
          <p:nvPr/>
        </p:nvSpPr>
        <p:spPr>
          <a:xfrm>
            <a:off x="962025" y="374198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Contents: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Date of Journey, Purchase, Foreign Keys (DimDelay.Delay_ID, etc.).</a:t>
            </a:r>
            <a:endParaRPr/>
          </a:p>
        </p:txBody>
      </p:sp>
      <p:sp>
        <p:nvSpPr>
          <p:cNvPr id="459" name="Google Shape;459;p32"/>
          <p:cNvSpPr txBox="1"/>
          <p:nvPr/>
        </p:nvSpPr>
        <p:spPr>
          <a:xfrm>
            <a:off x="677227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Dimension Tables (Dims)</a:t>
            </a:r>
            <a:endParaRPr/>
          </a:p>
        </p:txBody>
      </p:sp>
      <p:sp>
        <p:nvSpPr>
          <p:cNvPr id="460" name="Google Shape;460;p32"/>
          <p:cNvSpPr txBox="1"/>
          <p:nvPr/>
        </p:nvSpPr>
        <p:spPr>
          <a:xfrm>
            <a:off x="6772275" y="2941885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Surround the Fact table (One-to-Many).</a:t>
            </a:r>
            <a:endParaRPr/>
          </a:p>
        </p:txBody>
      </p:sp>
      <p:sp>
        <p:nvSpPr>
          <p:cNvPr id="461" name="Google Shape;461;p32"/>
          <p:cNvSpPr txBox="1"/>
          <p:nvPr/>
        </p:nvSpPr>
        <p:spPr>
          <a:xfrm>
            <a:off x="6772275" y="3437185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Tables: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DimStation (Details), DimTime, DimTicket (Class/Type), DimPaymentMethod, DimRailcard, DimJourneyStatus, DimPurchaseType, DimDelay (Reasons), Calendar.</a:t>
            </a:r>
            <a:endParaRPr/>
          </a:p>
        </p:txBody>
      </p:sp>
      <p:sp>
        <p:nvSpPr>
          <p:cNvPr id="462" name="Google Shape;462;p32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Model Structure (Star Schema)</a:t>
            </a:r>
            <a:endParaRPr/>
          </a:p>
        </p:txBody>
      </p:sp>
      <p:sp>
        <p:nvSpPr>
          <p:cNvPr id="463" name="Google Shape;463;p32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3"/>
          <p:cNvSpPr txBox="1"/>
          <p:nvPr/>
        </p:nvSpPr>
        <p:spPr>
          <a:xfrm>
            <a:off x="571500" y="3433018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3. Measures Table</a:t>
            </a:r>
            <a:endParaRPr/>
          </a:p>
        </p:txBody>
      </p:sp>
      <p:sp>
        <p:nvSpPr>
          <p:cNvPr id="470" name="Google Shape;470;p33"/>
          <p:cNvSpPr txBox="1"/>
          <p:nvPr/>
        </p:nvSpPr>
        <p:spPr>
          <a:xfrm>
            <a:off x="571500" y="394736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Container for DAX calculations.</a:t>
            </a:r>
            <a:endParaRPr/>
          </a:p>
        </p:txBody>
      </p:sp>
      <p:sp>
        <p:nvSpPr>
          <p:cNvPr id="471" name="Google Shape;471;p33"/>
          <p:cNvSpPr txBox="1"/>
          <p:nvPr/>
        </p:nvSpPr>
        <p:spPr>
          <a:xfrm>
            <a:off x="571500" y="444266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Examples: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Average Ticket Price, Cancellation Rate %.</a:t>
            </a:r>
            <a:endParaRPr/>
          </a:p>
        </p:txBody>
      </p:sp>
      <p:sp>
        <p:nvSpPr>
          <p:cNvPr id="472" name="Google Shape;472;p33"/>
          <p:cNvSpPr txBox="1"/>
          <p:nvPr/>
        </p:nvSpPr>
        <p:spPr>
          <a:xfrm>
            <a:off x="6381750" y="314250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4. How They Work Together</a:t>
            </a:r>
            <a:endParaRPr/>
          </a:p>
        </p:txBody>
      </p:sp>
      <p:sp>
        <p:nvSpPr>
          <p:cNvPr id="473" name="Google Shape;473;p33"/>
          <p:cNvSpPr txBox="1"/>
          <p:nvPr/>
        </p:nvSpPr>
        <p:spPr>
          <a:xfrm>
            <a:off x="6724650" y="36187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74" name="Google Shape;474;p33"/>
          <p:cNvSpPr txBox="1"/>
          <p:nvPr/>
        </p:nvSpPr>
        <p:spPr>
          <a:xfrm>
            <a:off x="6762750" y="361875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Fact_Data in the center (Many side).</a:t>
            </a:r>
            <a:endParaRPr/>
          </a:p>
        </p:txBody>
      </p:sp>
      <p:sp>
        <p:nvSpPr>
          <p:cNvPr id="475" name="Google Shape;475;p33"/>
          <p:cNvSpPr txBox="1"/>
          <p:nvPr/>
        </p:nvSpPr>
        <p:spPr>
          <a:xfrm>
            <a:off x="6724650" y="401880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76" name="Google Shape;476;p33"/>
          <p:cNvSpPr txBox="1"/>
          <p:nvPr/>
        </p:nvSpPr>
        <p:spPr>
          <a:xfrm>
            <a:off x="6762750" y="401880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Dimensions surrounding (One side).</a:t>
            </a:r>
            <a:endParaRPr/>
          </a:p>
        </p:txBody>
      </p:sp>
      <p:sp>
        <p:nvSpPr>
          <p:cNvPr id="477" name="Google Shape;477;p33"/>
          <p:cNvSpPr txBox="1"/>
          <p:nvPr/>
        </p:nvSpPr>
        <p:spPr>
          <a:xfrm>
            <a:off x="6724650" y="44188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78" name="Google Shape;478;p33"/>
          <p:cNvSpPr txBox="1"/>
          <p:nvPr/>
        </p:nvSpPr>
        <p:spPr>
          <a:xfrm>
            <a:off x="6762750" y="441885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Allows filtering millions of records by attributes like Station Name or Month.</a:t>
            </a:r>
            <a:endParaRPr/>
          </a:p>
        </p:txBody>
      </p:sp>
      <p:sp>
        <p:nvSpPr>
          <p:cNvPr id="479" name="Google Shape;479;p33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Special Tables &amp; Interactions</a:t>
            </a:r>
            <a:endParaRPr/>
          </a:p>
        </p:txBody>
      </p:sp>
      <p:sp>
        <p:nvSpPr>
          <p:cNvPr id="480" name="Google Shape;480;p33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4"/>
          <p:cNvSpPr txBox="1"/>
          <p:nvPr/>
        </p:nvSpPr>
        <p:spPr>
          <a:xfrm>
            <a:off x="571500" y="903535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Dashboard Intro Page</a:t>
            </a:r>
            <a:endParaRPr/>
          </a:p>
        </p:txBody>
      </p:sp>
      <p:sp>
        <p:nvSpPr>
          <p:cNvPr id="487" name="Google Shape;487;p34"/>
          <p:cNvSpPr txBox="1"/>
          <p:nvPr/>
        </p:nvSpPr>
        <p:spPr>
          <a:xfrm>
            <a:off x="571500" y="2366218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Purpose: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Navigation hub and project cover.</a:t>
            </a:r>
            <a:endParaRPr/>
          </a:p>
        </p:txBody>
      </p:sp>
      <p:sp>
        <p:nvSpPr>
          <p:cNvPr id="488" name="Google Shape;488;p34"/>
          <p:cNvSpPr txBox="1"/>
          <p:nvPr/>
        </p:nvSpPr>
        <p:spPr>
          <a:xfrm>
            <a:off x="571500" y="3004393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Identity: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Group Code (YAT525A...), Members List.</a:t>
            </a:r>
            <a:endParaRPr/>
          </a:p>
        </p:txBody>
      </p:sp>
      <p:sp>
        <p:nvSpPr>
          <p:cNvPr id="489" name="Google Shape;489;p34"/>
          <p:cNvSpPr txBox="1"/>
          <p:nvPr/>
        </p:nvSpPr>
        <p:spPr>
          <a:xfrm>
            <a:off x="571500" y="3642568"/>
            <a:ext cx="5200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B6D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Navigation Bar:</a:t>
            </a:r>
            <a:endParaRPr/>
          </a:p>
        </p:txBody>
      </p:sp>
      <p:sp>
        <p:nvSpPr>
          <p:cNvPr id="490" name="Google Shape;490;p34"/>
          <p:cNvSpPr txBox="1"/>
          <p:nvPr/>
        </p:nvSpPr>
        <p:spPr>
          <a:xfrm>
            <a:off x="914400" y="416644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91" name="Google Shape;491;p34"/>
          <p:cNvSpPr txBox="1"/>
          <p:nvPr/>
        </p:nvSpPr>
        <p:spPr>
          <a:xfrm>
            <a:off x="952500" y="416644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Operational Overview</a:t>
            </a:r>
            <a:endParaRPr/>
          </a:p>
        </p:txBody>
      </p:sp>
      <p:sp>
        <p:nvSpPr>
          <p:cNvPr id="492" name="Google Shape;492;p34"/>
          <p:cNvSpPr txBox="1"/>
          <p:nvPr/>
        </p:nvSpPr>
        <p:spPr>
          <a:xfrm>
            <a:off x="914400" y="456649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93" name="Google Shape;493;p34"/>
          <p:cNvSpPr txBox="1"/>
          <p:nvPr/>
        </p:nvSpPr>
        <p:spPr>
          <a:xfrm>
            <a:off x="952500" y="456649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Executive Performance</a:t>
            </a:r>
            <a:endParaRPr/>
          </a:p>
        </p:txBody>
      </p:sp>
      <p:sp>
        <p:nvSpPr>
          <p:cNvPr id="494" name="Google Shape;494;p34"/>
          <p:cNvSpPr txBox="1"/>
          <p:nvPr/>
        </p:nvSpPr>
        <p:spPr>
          <a:xfrm>
            <a:off x="914400" y="496654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95" name="Google Shape;495;p34"/>
          <p:cNvSpPr txBox="1"/>
          <p:nvPr/>
        </p:nvSpPr>
        <p:spPr>
          <a:xfrm>
            <a:off x="952500" y="496654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Delays Reason</a:t>
            </a:r>
            <a:endParaRPr/>
          </a:p>
        </p:txBody>
      </p:sp>
      <p:sp>
        <p:nvSpPr>
          <p:cNvPr id="496" name="Google Shape;496;p34"/>
          <p:cNvSpPr txBox="1"/>
          <p:nvPr/>
        </p:nvSpPr>
        <p:spPr>
          <a:xfrm>
            <a:off x="914400" y="536659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97" name="Google Shape;497;p34"/>
          <p:cNvSpPr txBox="1"/>
          <p:nvPr/>
        </p:nvSpPr>
        <p:spPr>
          <a:xfrm>
            <a:off x="952500" y="536659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Refunds</a:t>
            </a:r>
            <a:endParaRPr/>
          </a:p>
        </p:txBody>
      </p:sp>
      <p:sp>
        <p:nvSpPr>
          <p:cNvPr id="2" name="Google Shape;463;p32">
            <a:extLst>
              <a:ext uri="{FF2B5EF4-FFF2-40B4-BE49-F238E27FC236}">
                <a16:creationId xmlns:a16="http://schemas.microsoft.com/office/drawing/2014/main" id="{EDC0852B-DAC8-FC43-8082-DA970D1A2A10}"/>
              </a:ext>
            </a:extLst>
          </p:cNvPr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5"/>
          <p:cNvSpPr txBox="1"/>
          <p:nvPr/>
        </p:nvSpPr>
        <p:spPr>
          <a:xfrm>
            <a:off x="571500" y="903535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Operational Overview</a:t>
            </a:r>
            <a:endParaRPr/>
          </a:p>
        </p:txBody>
      </p:sp>
      <p:sp>
        <p:nvSpPr>
          <p:cNvPr id="504" name="Google Shape;504;p35"/>
          <p:cNvSpPr txBox="1"/>
          <p:nvPr/>
        </p:nvSpPr>
        <p:spPr>
          <a:xfrm>
            <a:off x="571500" y="1662974"/>
            <a:ext cx="4953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Focus: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General health of railway operations.</a:t>
            </a:r>
            <a:endParaRPr lang="en-US" sz="2000" dirty="0"/>
          </a:p>
        </p:txBody>
      </p:sp>
      <p:sp>
        <p:nvSpPr>
          <p:cNvPr id="505" name="Google Shape;505;p35"/>
          <p:cNvSpPr txBox="1"/>
          <p:nvPr/>
        </p:nvSpPr>
        <p:spPr>
          <a:xfrm>
            <a:off x="571500" y="2680544"/>
            <a:ext cx="107669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Top KPIs:</a:t>
            </a:r>
            <a:endParaRPr sz="1800" dirty="0"/>
          </a:p>
        </p:txBody>
      </p:sp>
      <p:sp>
        <p:nvSpPr>
          <p:cNvPr id="506" name="Google Shape;506;p35"/>
          <p:cNvSpPr txBox="1"/>
          <p:nvPr/>
        </p:nvSpPr>
        <p:spPr>
          <a:xfrm>
            <a:off x="571500" y="4461719"/>
            <a:ext cx="96239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Charts:</a:t>
            </a:r>
            <a:endParaRPr sz="1800" dirty="0"/>
          </a:p>
        </p:txBody>
      </p:sp>
      <p:sp>
        <p:nvSpPr>
          <p:cNvPr id="507" name="Google Shape;507;p35"/>
          <p:cNvSpPr txBox="1"/>
          <p:nvPr/>
        </p:nvSpPr>
        <p:spPr>
          <a:xfrm>
            <a:off x="914400" y="301391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08" name="Google Shape;508;p35"/>
          <p:cNvSpPr txBox="1"/>
          <p:nvPr/>
        </p:nvSpPr>
        <p:spPr>
          <a:xfrm>
            <a:off x="952500" y="3013918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Total Sold Tickets: 32K</a:t>
            </a:r>
            <a:endParaRPr/>
          </a:p>
        </p:txBody>
      </p:sp>
      <p:sp>
        <p:nvSpPr>
          <p:cNvPr id="509" name="Google Shape;509;p35"/>
          <p:cNvSpPr txBox="1"/>
          <p:nvPr/>
        </p:nvSpPr>
        <p:spPr>
          <a:xfrm>
            <a:off x="914400" y="341396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10" name="Google Shape;510;p35"/>
          <p:cNvSpPr txBox="1"/>
          <p:nvPr/>
        </p:nvSpPr>
        <p:spPr>
          <a:xfrm>
            <a:off x="952500" y="3413968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Net Revenue: 703K</a:t>
            </a:r>
            <a:endParaRPr/>
          </a:p>
        </p:txBody>
      </p:sp>
      <p:sp>
        <p:nvSpPr>
          <p:cNvPr id="511" name="Google Shape;511;p35"/>
          <p:cNvSpPr txBox="1"/>
          <p:nvPr/>
        </p:nvSpPr>
        <p:spPr>
          <a:xfrm>
            <a:off x="914400" y="381401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12" name="Google Shape;512;p35"/>
          <p:cNvSpPr txBox="1"/>
          <p:nvPr/>
        </p:nvSpPr>
        <p:spPr>
          <a:xfrm>
            <a:off x="952500" y="3814018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Cancelled Journeys: 1880</a:t>
            </a:r>
            <a:endParaRPr/>
          </a:p>
        </p:txBody>
      </p:sp>
      <p:sp>
        <p:nvSpPr>
          <p:cNvPr id="513" name="Google Shape;513;p35"/>
          <p:cNvSpPr txBox="1"/>
          <p:nvPr/>
        </p:nvSpPr>
        <p:spPr>
          <a:xfrm>
            <a:off x="914400" y="479509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14" name="Google Shape;514;p35"/>
          <p:cNvSpPr txBox="1"/>
          <p:nvPr/>
        </p:nvSpPr>
        <p:spPr>
          <a:xfrm>
            <a:off x="952500" y="479509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Revenue Over Time (Line): Jan–Apr 2024.</a:t>
            </a:r>
            <a:endParaRPr/>
          </a:p>
        </p:txBody>
      </p:sp>
      <p:sp>
        <p:nvSpPr>
          <p:cNvPr id="515" name="Google Shape;515;p35"/>
          <p:cNvSpPr txBox="1"/>
          <p:nvPr/>
        </p:nvSpPr>
        <p:spPr>
          <a:xfrm>
            <a:off x="914400" y="519514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16" name="Google Shape;516;p35"/>
          <p:cNvSpPr txBox="1"/>
          <p:nvPr/>
        </p:nvSpPr>
        <p:spPr>
          <a:xfrm>
            <a:off x="952500" y="519514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Total Journeys by Status (Column).</a:t>
            </a:r>
            <a:endParaRPr/>
          </a:p>
        </p:txBody>
      </p:sp>
      <p:sp>
        <p:nvSpPr>
          <p:cNvPr id="517" name="Google Shape;517;p35"/>
          <p:cNvSpPr txBox="1"/>
          <p:nvPr/>
        </p:nvSpPr>
        <p:spPr>
          <a:xfrm>
            <a:off x="914400" y="559519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18" name="Google Shape;518;p35"/>
          <p:cNvSpPr txBox="1"/>
          <p:nvPr/>
        </p:nvSpPr>
        <p:spPr>
          <a:xfrm>
            <a:off x="952500" y="559519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Payment Method: Credit Card 60.46%.</a:t>
            </a:r>
            <a:endParaRPr/>
          </a:p>
        </p:txBody>
      </p:sp>
      <p:sp>
        <p:nvSpPr>
          <p:cNvPr id="2" name="Google Shape;463;p32">
            <a:extLst>
              <a:ext uri="{FF2B5EF4-FFF2-40B4-BE49-F238E27FC236}">
                <a16:creationId xmlns:a16="http://schemas.microsoft.com/office/drawing/2014/main" id="{086DD444-33FE-6100-6EA4-2D9162E1DFF0}"/>
              </a:ext>
            </a:extLst>
          </p:cNvPr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6"/>
          <p:cNvSpPr txBox="1"/>
          <p:nvPr/>
        </p:nvSpPr>
        <p:spPr>
          <a:xfrm>
            <a:off x="571500" y="903535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Executive Performance</a:t>
            </a:r>
            <a:endParaRPr/>
          </a:p>
        </p:txBody>
      </p:sp>
      <p:sp>
        <p:nvSpPr>
          <p:cNvPr id="525" name="Google Shape;525;p36"/>
          <p:cNvSpPr txBox="1"/>
          <p:nvPr/>
        </p:nvSpPr>
        <p:spPr>
          <a:xfrm>
            <a:off x="571500" y="1913494"/>
            <a:ext cx="55245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Purpose: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Stakeholders’ view on profitability &amp; high-level stats.</a:t>
            </a:r>
            <a:endParaRPr sz="1800" dirty="0"/>
          </a:p>
        </p:txBody>
      </p:sp>
      <p:sp>
        <p:nvSpPr>
          <p:cNvPr id="526" name="Google Shape;526;p36"/>
          <p:cNvSpPr txBox="1"/>
          <p:nvPr/>
        </p:nvSpPr>
        <p:spPr>
          <a:xfrm>
            <a:off x="571500" y="2880569"/>
            <a:ext cx="10910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Top KPIs:</a:t>
            </a:r>
            <a:endParaRPr sz="1800" dirty="0"/>
          </a:p>
        </p:txBody>
      </p:sp>
      <p:sp>
        <p:nvSpPr>
          <p:cNvPr id="527" name="Google Shape;527;p36"/>
          <p:cNvSpPr txBox="1"/>
          <p:nvPr/>
        </p:nvSpPr>
        <p:spPr>
          <a:xfrm>
            <a:off x="571500" y="4261693"/>
            <a:ext cx="9485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Charts:</a:t>
            </a:r>
            <a:endParaRPr sz="1800" dirty="0"/>
          </a:p>
        </p:txBody>
      </p:sp>
      <p:sp>
        <p:nvSpPr>
          <p:cNvPr id="528" name="Google Shape;528;p36"/>
          <p:cNvSpPr txBox="1"/>
          <p:nvPr/>
        </p:nvSpPr>
        <p:spPr>
          <a:xfrm>
            <a:off x="914400" y="321394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29" name="Google Shape;529;p36"/>
          <p:cNvSpPr txBox="1"/>
          <p:nvPr/>
        </p:nvSpPr>
        <p:spPr>
          <a:xfrm>
            <a:off x="952500" y="321394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Refunded Journeys: 1,118</a:t>
            </a:r>
            <a:endParaRPr/>
          </a:p>
        </p:txBody>
      </p:sp>
      <p:sp>
        <p:nvSpPr>
          <p:cNvPr id="530" name="Google Shape;530;p36"/>
          <p:cNvSpPr txBox="1"/>
          <p:nvPr/>
        </p:nvSpPr>
        <p:spPr>
          <a:xfrm>
            <a:off x="914400" y="361399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31" name="Google Shape;531;p36"/>
          <p:cNvSpPr txBox="1"/>
          <p:nvPr/>
        </p:nvSpPr>
        <p:spPr>
          <a:xfrm>
            <a:off x="952500" y="361399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Refund Value: 39K</a:t>
            </a:r>
            <a:endParaRPr/>
          </a:p>
        </p:txBody>
      </p:sp>
      <p:sp>
        <p:nvSpPr>
          <p:cNvPr id="532" name="Google Shape;532;p36"/>
          <p:cNvSpPr txBox="1"/>
          <p:nvPr/>
        </p:nvSpPr>
        <p:spPr>
          <a:xfrm>
            <a:off x="914400" y="459506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33" name="Google Shape;533;p36"/>
          <p:cNvSpPr txBox="1"/>
          <p:nvPr/>
        </p:nvSpPr>
        <p:spPr>
          <a:xfrm>
            <a:off x="952500" y="4595068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Revenue by Departure Station (London Kings Cross highest).</a:t>
            </a:r>
            <a:endParaRPr/>
          </a:p>
        </p:txBody>
      </p:sp>
      <p:sp>
        <p:nvSpPr>
          <p:cNvPr id="534" name="Google Shape;534;p36"/>
          <p:cNvSpPr txBox="1"/>
          <p:nvPr/>
        </p:nvSpPr>
        <p:spPr>
          <a:xfrm>
            <a:off x="914400" y="529991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35" name="Google Shape;535;p36"/>
          <p:cNvSpPr txBox="1"/>
          <p:nvPr/>
        </p:nvSpPr>
        <p:spPr>
          <a:xfrm>
            <a:off x="952500" y="5299918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Journey Status: On Time 86.82%.</a:t>
            </a:r>
            <a:endParaRPr/>
          </a:p>
        </p:txBody>
      </p:sp>
      <p:sp>
        <p:nvSpPr>
          <p:cNvPr id="536" name="Google Shape;536;p36"/>
          <p:cNvSpPr txBox="1"/>
          <p:nvPr/>
        </p:nvSpPr>
        <p:spPr>
          <a:xfrm>
            <a:off x="914400" y="569996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37" name="Google Shape;537;p36"/>
          <p:cNvSpPr txBox="1"/>
          <p:nvPr/>
        </p:nvSpPr>
        <p:spPr>
          <a:xfrm>
            <a:off x="952500" y="5699968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Transaction by Railcard: 66.09% No Railcard.</a:t>
            </a:r>
            <a:endParaRPr/>
          </a:p>
        </p:txBody>
      </p:sp>
      <p:sp>
        <p:nvSpPr>
          <p:cNvPr id="2" name="Google Shape;463;p32">
            <a:extLst>
              <a:ext uri="{FF2B5EF4-FFF2-40B4-BE49-F238E27FC236}">
                <a16:creationId xmlns:a16="http://schemas.microsoft.com/office/drawing/2014/main" id="{BCD0862A-7A6D-52DE-D535-8BC9854EFE1F}"/>
              </a:ext>
            </a:extLst>
          </p:cNvPr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37"/>
          <p:cNvSpPr txBox="1"/>
          <p:nvPr/>
        </p:nvSpPr>
        <p:spPr>
          <a:xfrm>
            <a:off x="571500" y="903535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Delays Reason</a:t>
            </a:r>
            <a:endParaRPr/>
          </a:p>
        </p:txBody>
      </p:sp>
      <p:sp>
        <p:nvSpPr>
          <p:cNvPr id="544" name="Google Shape;544;p37"/>
          <p:cNvSpPr txBox="1"/>
          <p:nvPr/>
        </p:nvSpPr>
        <p:spPr>
          <a:xfrm>
            <a:off x="571500" y="2388245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Purpose: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Analyze the 7.24% of delayed journeys.</a:t>
            </a:r>
            <a:endParaRPr sz="1800" dirty="0"/>
          </a:p>
        </p:txBody>
      </p:sp>
      <p:sp>
        <p:nvSpPr>
          <p:cNvPr id="545" name="Google Shape;545;p37"/>
          <p:cNvSpPr txBox="1"/>
          <p:nvPr/>
        </p:nvSpPr>
        <p:spPr>
          <a:xfrm>
            <a:off x="571500" y="2880569"/>
            <a:ext cx="97229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Top KPIs:</a:t>
            </a:r>
            <a:endParaRPr sz="1800" dirty="0"/>
          </a:p>
        </p:txBody>
      </p:sp>
      <p:sp>
        <p:nvSpPr>
          <p:cNvPr id="546" name="Google Shape;546;p37"/>
          <p:cNvSpPr txBox="1"/>
          <p:nvPr/>
        </p:nvSpPr>
        <p:spPr>
          <a:xfrm>
            <a:off x="571500" y="4261693"/>
            <a:ext cx="106482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Charts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:</a:t>
            </a:r>
            <a:endParaRPr sz="1800" dirty="0"/>
          </a:p>
        </p:txBody>
      </p:sp>
      <p:sp>
        <p:nvSpPr>
          <p:cNvPr id="547" name="Google Shape;547;p37"/>
          <p:cNvSpPr txBox="1"/>
          <p:nvPr/>
        </p:nvSpPr>
        <p:spPr>
          <a:xfrm>
            <a:off x="914400" y="321394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48" name="Google Shape;548;p37"/>
          <p:cNvSpPr txBox="1"/>
          <p:nvPr/>
        </p:nvSpPr>
        <p:spPr>
          <a:xfrm>
            <a:off x="952500" y="321394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OnTime %: 86.82%</a:t>
            </a:r>
            <a:endParaRPr/>
          </a:p>
        </p:txBody>
      </p:sp>
      <p:sp>
        <p:nvSpPr>
          <p:cNvPr id="549" name="Google Shape;549;p37"/>
          <p:cNvSpPr txBox="1"/>
          <p:nvPr/>
        </p:nvSpPr>
        <p:spPr>
          <a:xfrm>
            <a:off x="914400" y="361399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50" name="Google Shape;550;p37"/>
          <p:cNvSpPr txBox="1"/>
          <p:nvPr/>
        </p:nvSpPr>
        <p:spPr>
          <a:xfrm>
            <a:off x="952500" y="361399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Delayed Journeys %: 7.24%</a:t>
            </a:r>
            <a:endParaRPr/>
          </a:p>
        </p:txBody>
      </p:sp>
      <p:sp>
        <p:nvSpPr>
          <p:cNvPr id="551" name="Google Shape;551;p37"/>
          <p:cNvSpPr txBox="1"/>
          <p:nvPr/>
        </p:nvSpPr>
        <p:spPr>
          <a:xfrm>
            <a:off x="914400" y="459506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52" name="Google Shape;552;p37"/>
          <p:cNvSpPr txBox="1"/>
          <p:nvPr/>
        </p:nvSpPr>
        <p:spPr>
          <a:xfrm>
            <a:off x="952500" y="4595068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Delayed by Reason: Weather top, then Technical.</a:t>
            </a:r>
            <a:endParaRPr dirty="0"/>
          </a:p>
        </p:txBody>
      </p:sp>
      <p:sp>
        <p:nvSpPr>
          <p:cNvPr id="553" name="Google Shape;553;p37"/>
          <p:cNvSpPr txBox="1"/>
          <p:nvPr/>
        </p:nvSpPr>
        <p:spPr>
          <a:xfrm>
            <a:off x="914400" y="499511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54" name="Google Shape;554;p37"/>
          <p:cNvSpPr txBox="1"/>
          <p:nvPr/>
        </p:nvSpPr>
        <p:spPr>
          <a:xfrm>
            <a:off x="952500" y="4995118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Delayed by Month: Peak in March.</a:t>
            </a:r>
            <a:endParaRPr/>
          </a:p>
        </p:txBody>
      </p:sp>
      <p:sp>
        <p:nvSpPr>
          <p:cNvPr id="555" name="Google Shape;555;p37"/>
          <p:cNvSpPr txBox="1"/>
          <p:nvPr/>
        </p:nvSpPr>
        <p:spPr>
          <a:xfrm>
            <a:off x="914400" y="539516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56" name="Google Shape;556;p37"/>
          <p:cNvSpPr txBox="1"/>
          <p:nvPr/>
        </p:nvSpPr>
        <p:spPr>
          <a:xfrm>
            <a:off x="952500" y="5395168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Top Delayed Routes: Liverpool Lime St worst.</a:t>
            </a:r>
            <a:endParaRPr dirty="0"/>
          </a:p>
        </p:txBody>
      </p:sp>
      <p:sp>
        <p:nvSpPr>
          <p:cNvPr id="2" name="Google Shape;463;p32">
            <a:extLst>
              <a:ext uri="{FF2B5EF4-FFF2-40B4-BE49-F238E27FC236}">
                <a16:creationId xmlns:a16="http://schemas.microsoft.com/office/drawing/2014/main" id="{0AA527F7-88BB-AEBC-7E0F-CF999340953C}"/>
              </a:ext>
            </a:extLst>
          </p:cNvPr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38"/>
          <p:cNvSpPr txBox="1"/>
          <p:nvPr/>
        </p:nvSpPr>
        <p:spPr>
          <a:xfrm>
            <a:off x="638175" y="914645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Refunds &amp; Cancellations</a:t>
            </a:r>
            <a:endParaRPr dirty="0"/>
          </a:p>
        </p:txBody>
      </p:sp>
      <p:sp>
        <p:nvSpPr>
          <p:cNvPr id="563" name="Google Shape;563;p38"/>
          <p:cNvSpPr txBox="1"/>
          <p:nvPr/>
        </p:nvSpPr>
        <p:spPr>
          <a:xfrm>
            <a:off x="323850" y="2315064"/>
            <a:ext cx="57721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Purpose: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Analyze critical failures when trains don’t run.</a:t>
            </a:r>
            <a:endParaRPr sz="1800" dirty="0"/>
          </a:p>
        </p:txBody>
      </p:sp>
      <p:sp>
        <p:nvSpPr>
          <p:cNvPr id="564" name="Google Shape;564;p38"/>
          <p:cNvSpPr txBox="1"/>
          <p:nvPr/>
        </p:nvSpPr>
        <p:spPr>
          <a:xfrm>
            <a:off x="571500" y="2898809"/>
            <a:ext cx="86294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Top KPIs:</a:t>
            </a:r>
            <a:endParaRPr sz="1800" dirty="0"/>
          </a:p>
        </p:txBody>
      </p:sp>
      <p:sp>
        <p:nvSpPr>
          <p:cNvPr id="565" name="Google Shape;565;p38"/>
          <p:cNvSpPr txBox="1"/>
          <p:nvPr/>
        </p:nvSpPr>
        <p:spPr>
          <a:xfrm>
            <a:off x="571500" y="4261694"/>
            <a:ext cx="7204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Charts:</a:t>
            </a:r>
            <a:endParaRPr sz="1800" dirty="0"/>
          </a:p>
        </p:txBody>
      </p:sp>
      <p:sp>
        <p:nvSpPr>
          <p:cNvPr id="566" name="Google Shape;566;p38"/>
          <p:cNvSpPr txBox="1"/>
          <p:nvPr/>
        </p:nvSpPr>
        <p:spPr>
          <a:xfrm>
            <a:off x="914400" y="3213943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/>
          </a:p>
        </p:txBody>
      </p:sp>
      <p:sp>
        <p:nvSpPr>
          <p:cNvPr id="567" name="Google Shape;567;p38"/>
          <p:cNvSpPr txBox="1"/>
          <p:nvPr/>
        </p:nvSpPr>
        <p:spPr>
          <a:xfrm>
            <a:off x="952500" y="3213943"/>
            <a:ext cx="457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Cancellation Rate: 5.94%</a:t>
            </a:r>
            <a:endParaRPr sz="1800"/>
          </a:p>
        </p:txBody>
      </p:sp>
      <p:sp>
        <p:nvSpPr>
          <p:cNvPr id="568" name="Google Shape;568;p38"/>
          <p:cNvSpPr txBox="1"/>
          <p:nvPr/>
        </p:nvSpPr>
        <p:spPr>
          <a:xfrm>
            <a:off x="914400" y="3613993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/>
          </a:p>
        </p:txBody>
      </p:sp>
      <p:sp>
        <p:nvSpPr>
          <p:cNvPr id="569" name="Google Shape;569;p38"/>
          <p:cNvSpPr txBox="1"/>
          <p:nvPr/>
        </p:nvSpPr>
        <p:spPr>
          <a:xfrm>
            <a:off x="952500" y="3613993"/>
            <a:ext cx="457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Refund Rate: 3.53%</a:t>
            </a:r>
            <a:endParaRPr sz="1800"/>
          </a:p>
        </p:txBody>
      </p:sp>
      <p:sp>
        <p:nvSpPr>
          <p:cNvPr id="570" name="Google Shape;570;p38"/>
          <p:cNvSpPr txBox="1"/>
          <p:nvPr/>
        </p:nvSpPr>
        <p:spPr>
          <a:xfrm>
            <a:off x="914400" y="4595068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/>
          </a:p>
        </p:txBody>
      </p:sp>
      <p:sp>
        <p:nvSpPr>
          <p:cNvPr id="571" name="Google Shape;571;p38"/>
          <p:cNvSpPr txBox="1"/>
          <p:nvPr/>
        </p:nvSpPr>
        <p:spPr>
          <a:xfrm>
            <a:off x="952500" y="4595068"/>
            <a:ext cx="457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Cancellation Rate % by Route.</a:t>
            </a:r>
            <a:endParaRPr sz="1800"/>
          </a:p>
        </p:txBody>
      </p:sp>
      <p:sp>
        <p:nvSpPr>
          <p:cNvPr id="572" name="Google Shape;572;p38"/>
          <p:cNvSpPr txBox="1"/>
          <p:nvPr/>
        </p:nvSpPr>
        <p:spPr>
          <a:xfrm>
            <a:off x="914400" y="4995118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/>
          </a:p>
        </p:txBody>
      </p:sp>
      <p:sp>
        <p:nvSpPr>
          <p:cNvPr id="573" name="Google Shape;573;p38"/>
          <p:cNvSpPr txBox="1"/>
          <p:nvPr/>
        </p:nvSpPr>
        <p:spPr>
          <a:xfrm>
            <a:off x="952500" y="4995118"/>
            <a:ext cx="4572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Refund Value by Class: Standard Class 83.56%.</a:t>
            </a:r>
            <a:endParaRPr sz="1800" dirty="0"/>
          </a:p>
        </p:txBody>
      </p:sp>
      <p:sp>
        <p:nvSpPr>
          <p:cNvPr id="574" name="Google Shape;574;p38"/>
          <p:cNvSpPr txBox="1"/>
          <p:nvPr/>
        </p:nvSpPr>
        <p:spPr>
          <a:xfrm>
            <a:off x="914400" y="5395168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/>
          </a:p>
        </p:txBody>
      </p:sp>
      <p:sp>
        <p:nvSpPr>
          <p:cNvPr id="575" name="Google Shape;575;p38"/>
          <p:cNvSpPr txBox="1"/>
          <p:nvPr/>
        </p:nvSpPr>
        <p:spPr>
          <a:xfrm>
            <a:off x="952500" y="5704960"/>
            <a:ext cx="457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Cancelled Reasons: Signal Failure main.</a:t>
            </a:r>
            <a:endParaRPr sz="1800" dirty="0"/>
          </a:p>
        </p:txBody>
      </p:sp>
      <p:sp>
        <p:nvSpPr>
          <p:cNvPr id="2" name="Google Shape;463;p32">
            <a:extLst>
              <a:ext uri="{FF2B5EF4-FFF2-40B4-BE49-F238E27FC236}">
                <a16:creationId xmlns:a16="http://schemas.microsoft.com/office/drawing/2014/main" id="{D81AD2FC-4776-C98C-B8F9-F593CC1D8A51}"/>
              </a:ext>
            </a:extLst>
          </p:cNvPr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9"/>
          <p:cNvSpPr txBox="1"/>
          <p:nvPr/>
        </p:nvSpPr>
        <p:spPr>
          <a:xfrm>
            <a:off x="571500" y="329490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Technology Stack</a:t>
            </a:r>
            <a:endParaRPr/>
          </a:p>
        </p:txBody>
      </p:sp>
      <p:sp>
        <p:nvSpPr>
          <p:cNvPr id="582" name="Google Shape;582;p39"/>
          <p:cNvSpPr txBox="1"/>
          <p:nvPr/>
        </p:nvSpPr>
        <p:spPr>
          <a:xfrm>
            <a:off x="6381750" y="310440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Deployment Diagram</a:t>
            </a:r>
            <a:endParaRPr/>
          </a:p>
        </p:txBody>
      </p:sp>
      <p:sp>
        <p:nvSpPr>
          <p:cNvPr id="583" name="Google Shape;583;p39"/>
          <p:cNvSpPr txBox="1"/>
          <p:nvPr/>
        </p:nvSpPr>
        <p:spPr>
          <a:xfrm>
            <a:off x="6381750" y="446648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Connection between Power BI visuals and Python-prepared dataset.</a:t>
            </a:r>
            <a:endParaRPr dirty="0"/>
          </a:p>
        </p:txBody>
      </p:sp>
      <p:sp>
        <p:nvSpPr>
          <p:cNvPr id="584" name="Google Shape;584;p39"/>
          <p:cNvSpPr txBox="1"/>
          <p:nvPr/>
        </p:nvSpPr>
        <p:spPr>
          <a:xfrm>
            <a:off x="914400" y="37711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85" name="Google Shape;585;p39"/>
          <p:cNvSpPr txBox="1"/>
          <p:nvPr/>
        </p:nvSpPr>
        <p:spPr>
          <a:xfrm>
            <a:off x="952500" y="377115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Python (Pandas, Matplotlib)</a:t>
            </a:r>
            <a:endParaRPr/>
          </a:p>
        </p:txBody>
      </p:sp>
      <p:sp>
        <p:nvSpPr>
          <p:cNvPr id="586" name="Google Shape;586;p39"/>
          <p:cNvSpPr txBox="1"/>
          <p:nvPr/>
        </p:nvSpPr>
        <p:spPr>
          <a:xfrm>
            <a:off x="914400" y="417120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87" name="Google Shape;587;p39"/>
          <p:cNvSpPr txBox="1"/>
          <p:nvPr/>
        </p:nvSpPr>
        <p:spPr>
          <a:xfrm>
            <a:off x="952500" y="417120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Power BI</a:t>
            </a:r>
            <a:endParaRPr/>
          </a:p>
        </p:txBody>
      </p:sp>
      <p:sp>
        <p:nvSpPr>
          <p:cNvPr id="590" name="Google Shape;590;p39"/>
          <p:cNvSpPr txBox="1"/>
          <p:nvPr/>
        </p:nvSpPr>
        <p:spPr>
          <a:xfrm>
            <a:off x="7872412" y="3714005"/>
            <a:ext cx="381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pic>
        <p:nvPicPr>
          <p:cNvPr id="591" name="Google Shape;591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3912" y="3918793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39"/>
          <p:cNvSpPr txBox="1"/>
          <p:nvPr/>
        </p:nvSpPr>
        <p:spPr>
          <a:xfrm>
            <a:off x="8767762" y="3714005"/>
            <a:ext cx="381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pic>
        <p:nvPicPr>
          <p:cNvPr id="593" name="Google Shape;593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9262" y="3918793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9"/>
          <p:cNvSpPr txBox="1"/>
          <p:nvPr/>
        </p:nvSpPr>
        <p:spPr>
          <a:xfrm>
            <a:off x="9663112" y="3714005"/>
            <a:ext cx="466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pic>
        <p:nvPicPr>
          <p:cNvPr id="595" name="Google Shape;595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2412" y="371400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91575" y="371400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29787" y="371400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9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Deployment &amp; Integration</a:t>
            </a:r>
            <a:endParaRPr/>
          </a:p>
        </p:txBody>
      </p:sp>
      <p:sp>
        <p:nvSpPr>
          <p:cNvPr id="599" name="Google Shape;599;p39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0"/>
          <p:cNvSpPr txBox="1"/>
          <p:nvPr/>
        </p:nvSpPr>
        <p:spPr>
          <a:xfrm>
            <a:off x="96202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Final Deliverables</a:t>
            </a:r>
            <a:endParaRPr/>
          </a:p>
        </p:txBody>
      </p:sp>
      <p:sp>
        <p:nvSpPr>
          <p:cNvPr id="608" name="Google Shape;608;p40"/>
          <p:cNvSpPr txBox="1"/>
          <p:nvPr/>
        </p:nvSpPr>
        <p:spPr>
          <a:xfrm>
            <a:off x="677227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Optional Next Steps</a:t>
            </a:r>
            <a:endParaRPr/>
          </a:p>
        </p:txBody>
      </p:sp>
      <p:sp>
        <p:nvSpPr>
          <p:cNvPr id="609" name="Google Shape;609;p40"/>
          <p:cNvSpPr txBox="1"/>
          <p:nvPr/>
        </p:nvSpPr>
        <p:spPr>
          <a:xfrm>
            <a:off x="1343025" y="29037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Cleaned Dataset (CSV).</a:t>
            </a:r>
            <a:endParaRPr/>
          </a:p>
        </p:txBody>
      </p:sp>
      <p:sp>
        <p:nvSpPr>
          <p:cNvPr id="610" name="Google Shape;610;p40"/>
          <p:cNvSpPr txBox="1"/>
          <p:nvPr/>
        </p:nvSpPr>
        <p:spPr>
          <a:xfrm>
            <a:off x="1343025" y="330383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Interactive Power BI Dashboard.</a:t>
            </a:r>
            <a:endParaRPr/>
          </a:p>
        </p:txBody>
      </p:sp>
      <p:sp>
        <p:nvSpPr>
          <p:cNvPr id="611" name="Google Shape;611;p40"/>
          <p:cNvSpPr txBox="1"/>
          <p:nvPr/>
        </p:nvSpPr>
        <p:spPr>
          <a:xfrm>
            <a:off x="1343025" y="37038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Python Analysis Scripts &amp; PNG Charts.</a:t>
            </a:r>
            <a:endParaRPr/>
          </a:p>
        </p:txBody>
      </p:sp>
      <p:sp>
        <p:nvSpPr>
          <p:cNvPr id="612" name="Google Shape;612;p40"/>
          <p:cNvSpPr txBox="1"/>
          <p:nvPr/>
        </p:nvSpPr>
        <p:spPr>
          <a:xfrm>
            <a:off x="1343025" y="410393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Project Documentation.</a:t>
            </a:r>
            <a:endParaRPr/>
          </a:p>
        </p:txBody>
      </p:sp>
      <p:sp>
        <p:nvSpPr>
          <p:cNvPr id="613" name="Google Shape;613;p40"/>
          <p:cNvSpPr txBox="1"/>
          <p:nvPr/>
        </p:nvSpPr>
        <p:spPr>
          <a:xfrm>
            <a:off x="7115175" y="29037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614" name="Google Shape;614;p40"/>
          <p:cNvSpPr txBox="1"/>
          <p:nvPr/>
        </p:nvSpPr>
        <p:spPr>
          <a:xfrm>
            <a:off x="7153275" y="29037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Add automated notebooks / scheduled ETL.</a:t>
            </a:r>
            <a:endParaRPr/>
          </a:p>
        </p:txBody>
      </p:sp>
      <p:sp>
        <p:nvSpPr>
          <p:cNvPr id="615" name="Google Shape;615;p40"/>
          <p:cNvSpPr txBox="1"/>
          <p:nvPr/>
        </p:nvSpPr>
        <p:spPr>
          <a:xfrm>
            <a:off x="7115175" y="330383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616" name="Google Shape;616;p40"/>
          <p:cNvSpPr txBox="1"/>
          <p:nvPr/>
        </p:nvSpPr>
        <p:spPr>
          <a:xfrm>
            <a:off x="7153275" y="330383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Build advanced DAX measures in Measures table.</a:t>
            </a:r>
            <a:endParaRPr/>
          </a:p>
        </p:txBody>
      </p:sp>
      <p:sp>
        <p:nvSpPr>
          <p:cNvPr id="617" name="Google Shape;617;p40"/>
          <p:cNvSpPr txBox="1"/>
          <p:nvPr/>
        </p:nvSpPr>
        <p:spPr>
          <a:xfrm>
            <a:off x="7115175" y="40086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618" name="Google Shape;618;p40"/>
          <p:cNvSpPr txBox="1"/>
          <p:nvPr/>
        </p:nvSpPr>
        <p:spPr>
          <a:xfrm>
            <a:off x="7153275" y="40086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Add predictive models for delay forecasting.</a:t>
            </a:r>
            <a:endParaRPr/>
          </a:p>
        </p:txBody>
      </p:sp>
      <p:pic>
        <p:nvPicPr>
          <p:cNvPr id="619" name="Google Shape;619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3025" y="29561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3025" y="335622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3025" y="37562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3025" y="4156323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0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Deliverables &amp; Next Steps</a:t>
            </a:r>
            <a:endParaRPr/>
          </a:p>
        </p:txBody>
      </p:sp>
      <p:sp>
        <p:nvSpPr>
          <p:cNvPr id="624" name="Google Shape;624;p40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2"/>
          <p:cNvSpPr txBox="1"/>
          <p:nvPr/>
        </p:nvSpPr>
        <p:spPr>
          <a:xfrm>
            <a:off x="295275" y="170973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649" name="Google Shape;649;p42"/>
          <p:cNvSpPr txBox="1"/>
          <p:nvPr/>
        </p:nvSpPr>
        <p:spPr>
          <a:xfrm>
            <a:off x="295275" y="3730823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Q&amp;A</a:t>
            </a:r>
            <a:endParaRPr/>
          </a:p>
        </p:txBody>
      </p:sp>
      <p:sp>
        <p:nvSpPr>
          <p:cNvPr id="650" name="Google Shape;650;p42"/>
          <p:cNvSpPr txBox="1"/>
          <p:nvPr/>
        </p:nvSpPr>
        <p:spPr>
          <a:xfrm>
            <a:off x="571500" y="5271938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UK-Train-Rides Analysis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2149</Words>
  <Application>Microsoft Office PowerPoint</Application>
  <PresentationFormat>Widescreen</PresentationFormat>
  <Paragraphs>360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Urbanist SemiBold</vt:lpstr>
      <vt:lpstr>Arial</vt:lpstr>
      <vt:lpstr>Urbanist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20210381</cp:lastModifiedBy>
  <cp:revision>3</cp:revision>
  <dcterms:modified xsi:type="dcterms:W3CDTF">2025-12-05T16:09:22Z</dcterms:modified>
</cp:coreProperties>
</file>