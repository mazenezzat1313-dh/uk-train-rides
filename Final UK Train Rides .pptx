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</p:sldIdLst>
  <p:sldSz cx="12192000" cy="6858000"/>
  <p:notesSz cx="6858000" cy="9144000"/>
  <p:embeddedFontLst>
    <p:embeddedFont>
      <p:font typeface="Urbanist" panose="020B0604020202020204" charset="0"/>
      <p:regular r:id="rId32"/>
      <p:bold r:id="rId33"/>
      <p:italic r:id="rId34"/>
      <p:boldItalic r:id="rId35"/>
    </p:embeddedFont>
    <p:embeddedFont>
      <p:font typeface="Urbanist SemiBold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4CD7D5-99A1-494C-8542-1C0668147E43}">
  <a:tblStyle styleId="{964CD7D5-99A1-494C-8542-1C0668147E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4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9" name="Google Shape;55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04975" y="5035153"/>
            <a:ext cx="1562100" cy="67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48075" y="5035153"/>
            <a:ext cx="1581150" cy="67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0225" y="5035153"/>
            <a:ext cx="2276475" cy="674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67700" y="5035153"/>
            <a:ext cx="2219325" cy="6743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3600450" y="1339006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SECTION 1: PROJECT OVERVIEW &amp; MANAGEMENT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840718" y="2195066"/>
            <a:ext cx="4510563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UK-Train-Rides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Analysis Project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276350" y="3737075"/>
            <a:ext cx="23241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Group Code: YAT525A...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2000250" y="5035154"/>
            <a:ext cx="956706" cy="67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Mazen Ezzat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3933825" y="5035153"/>
            <a:ext cx="990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Ali Mohamed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5886450" y="5084317"/>
            <a:ext cx="1685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Mohammed Al-Saeed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8562975" y="5019597"/>
            <a:ext cx="16287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Abdelrahman Ahmed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0"/>
            <a:ext cx="5238750" cy="51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70310"/>
            <a:ext cx="523875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6202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Objective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7227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Scope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304925" y="29037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343025" y="290378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Operational analysis of a real railway network studying 31,000+ actual transactions.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304925" y="36086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343025" y="3608635"/>
            <a:ext cx="4076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Uncover booking patterns, evaluate trip performance, and identify operational challenges (delays, refunds).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04925" y="46182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343025" y="461828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Understand passenger purchasing and payment behaviors.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304925" y="53231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343025" y="532313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Utilize Python and Power BI for integrated vision and improvement opportunities.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115175" y="29037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153275" y="290378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Booking Patterns: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Reservation frequency, seasonal peaks, preferred routes.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115175" y="36086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153275" y="360863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Trip Performance: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Punctuality rates, delays, cancellations.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115175" y="43134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153275" y="431348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Refunds &amp; Complaints: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Causes and trends of refund requests.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115175" y="50183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7153275" y="501833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Payment Behavior: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Preferred payment methods and purchasing behaviors.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115175" y="57231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7153275" y="572318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Operational Insights: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Scheduling improvements, service efficiency, customer satisfaction.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Proposal &amp; Objectives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8868"/>
            <a:ext cx="2057400" cy="367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19400" y="2378868"/>
            <a:ext cx="2057400" cy="367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67300" y="2378868"/>
            <a:ext cx="2057400" cy="367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5200" y="2378868"/>
            <a:ext cx="2057400" cy="367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63100" y="2378868"/>
            <a:ext cx="2057400" cy="367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762000" y="2607468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WEEK 2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62000" y="3036093"/>
            <a:ext cx="17602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1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62000" y="3550443"/>
            <a:ext cx="167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Cleaning &amp; Transformation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62000" y="4302918"/>
            <a:ext cx="1676400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Handle missing values, fix inconsistencies, prepare dataset using Python (Pandas).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62000" y="5298876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Milestone:</a:t>
            </a:r>
            <a:r>
              <a:rPr lang="en-US" sz="105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Cleaned dataset ready.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3009900" y="2607468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WEEK 3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3009900" y="3036093"/>
            <a:ext cx="17602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2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3009900" y="3550443"/>
            <a:ext cx="167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Analysis &amp; Metric Creation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3009900" y="4302918"/>
            <a:ext cx="167640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Analyze patterns of delays, refunds, payments, and trip efficiency.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3009900" y="5085605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Milestone:</a:t>
            </a:r>
            <a:r>
              <a:rPr lang="en-US" sz="105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Key insights identified.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5257800" y="2607468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WEEK 4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5257800" y="3036093"/>
            <a:ext cx="17602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3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5257800" y="3550443"/>
            <a:ext cx="167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Dashboard Development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257800" y="4302918"/>
            <a:ext cx="167640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Build Power BI dashboard with interactive visuals and KPIs.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5257800" y="5085605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Milestone:</a:t>
            </a:r>
            <a:r>
              <a:rPr lang="en-US" sz="105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First version of dashboard.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7505700" y="2607468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WEEK 5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7505700" y="3036093"/>
            <a:ext cx="17602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4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7505700" y="3550443"/>
            <a:ext cx="167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Review &amp; Refinement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7505700" y="4302918"/>
            <a:ext cx="167640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Validate results, enhance visuals, optimize performance.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7505700" y="5085605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Milestone:</a:t>
            </a:r>
            <a:r>
              <a:rPr lang="en-US" sz="105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Final dashboard ready.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753600" y="2607468"/>
            <a:ext cx="1676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18CF8"/>
                </a:solidFill>
                <a:latin typeface="Urbanist"/>
                <a:ea typeface="Urbanist"/>
                <a:cs typeface="Urbanist"/>
                <a:sym typeface="Urbanist"/>
              </a:rPr>
              <a:t>WEEK 6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9753600" y="3036093"/>
            <a:ext cx="17602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Phase 5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753600" y="3550443"/>
            <a:ext cx="167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Presentation &amp; Documentation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9753600" y="4302918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Prepare presentation, reports, upload to GitHub.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9753600" y="4872335"/>
            <a:ext cx="1676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Milestone:</a:t>
            </a:r>
            <a:r>
              <a:rPr lang="en-US" sz="105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Project completed.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Plan &amp; Timeline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571500" y="3237755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Resources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71500" y="3656855"/>
            <a:ext cx="52387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6381750" y="2680543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Task Assignment &amp; Roles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6381750" y="3099643"/>
            <a:ext cx="5238750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p16"/>
          <p:cNvGraphicFramePr/>
          <p:nvPr/>
        </p:nvGraphicFramePr>
        <p:xfrm>
          <a:off x="6381750" y="3261568"/>
          <a:ext cx="5238750" cy="2381250"/>
        </p:xfrm>
        <a:graphic>
          <a:graphicData uri="http://schemas.openxmlformats.org/drawingml/2006/table">
            <a:tbl>
              <a:tblPr firstRow="1" bandRow="1">
                <a:noFill/>
                <a:tableStyleId>{964CD7D5-99A1-494C-8542-1C0668147E43}</a:tableStyleId>
              </a:tblPr>
              <a:tblGrid>
                <a:gridCol w="30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 Cleaning &amp; Transformation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[Team Member Name]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 Analysis &amp; Metrics Creation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[Team Member Name]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Dashboard Development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[Team Member Name]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Review &amp; Refinement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[Team Member Name]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Presentation &amp; Documentation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[Team Member Name]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2" name="Google Shape;172;p16"/>
          <p:cNvSpPr txBox="1"/>
          <p:nvPr/>
        </p:nvSpPr>
        <p:spPr>
          <a:xfrm>
            <a:off x="571500" y="382830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Tools: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Python, Power BI.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571500" y="422835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Libraries: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Pandas, Matplotlib, Seaborn (visualization).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571500" y="462840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Source: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DEPI Datasets (UK Train Rides dataset).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6381750" y="3723530"/>
            <a:ext cx="30365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9418290" y="3723530"/>
            <a:ext cx="22022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381750" y="4199780"/>
            <a:ext cx="30365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9418290" y="4199780"/>
            <a:ext cx="22022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6381750" y="4676030"/>
            <a:ext cx="30365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9418290" y="4676030"/>
            <a:ext cx="22022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6381750" y="5152280"/>
            <a:ext cx="30365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9418290" y="5152280"/>
            <a:ext cx="22022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6381750" y="5628530"/>
            <a:ext cx="30365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9418290" y="5628530"/>
            <a:ext cx="22022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8069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8074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8079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Resources &amp; Task Assignment</a:t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6230"/>
            <a:ext cx="34924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66230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66230"/>
            <a:ext cx="349240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7200" y="27519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784227" y="3590180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Risk 1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857250" y="4104530"/>
            <a:ext cx="2920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Missing or inconsistent data.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857250" y="455220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Solution:</a:t>
            </a:r>
            <a:r>
              <a:rPr lang="en-US" sz="150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Use Python validation and data cleaning scripts.</a:t>
            </a:r>
            <a:endParaRPr/>
          </a:p>
        </p:txBody>
      </p:sp>
      <p:pic>
        <p:nvPicPr>
          <p:cNvPr id="202" name="Google Shape;20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351" y="27519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 txBox="1"/>
          <p:nvPr/>
        </p:nvSpPr>
        <p:spPr>
          <a:xfrm>
            <a:off x="4562374" y="3590180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Risk 2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4635400" y="4104530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Performance issues in Power BI.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4635400" y="4552205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Solution:</a:t>
            </a:r>
            <a:r>
              <a:rPr lang="en-US" sz="150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Optimize data model and use DAX efficiently.</a:t>
            </a:r>
            <a:endParaRPr/>
          </a:p>
        </p:txBody>
      </p:sp>
      <p:pic>
        <p:nvPicPr>
          <p:cNvPr id="206" name="Google Shape;20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83650" y="27519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 txBox="1"/>
          <p:nvPr/>
        </p:nvSpPr>
        <p:spPr>
          <a:xfrm>
            <a:off x="8340677" y="3590180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Risk 3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8413700" y="4104530"/>
            <a:ext cx="2920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Misinterpretation of insights.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8413700" y="455220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Solution:</a:t>
            </a:r>
            <a:r>
              <a:rPr lang="en-US" sz="1500" b="0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 Validate results with domain experts or supervisors.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Risk Assessment &amp; Mitigation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/>
          <p:nvPr/>
        </p:nvSpPr>
        <p:spPr>
          <a:xfrm>
            <a:off x="5619750" y="2300882"/>
            <a:ext cx="9525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1600438" y="3067347"/>
            <a:ext cx="8991123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Section 2: System Analysis &amp; Design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96202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Stakeholder Analysis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77227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User Stories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7343775" y="2903785"/>
            <a:ext cx="3505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"As an operations manager, I want to monitor train delays to identify problematic routes." 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7153275" y="2903785"/>
            <a:ext cx="38100" cy="3619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7343775" y="3456235"/>
            <a:ext cx="3505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"As a financial analyst, I want to track refund trends to reduce operational losses." </a:t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7153275" y="3456235"/>
            <a:ext cx="38100" cy="3619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1304925" y="29037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343025" y="290378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Business Managers: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Interested in operational efficiency and revenue.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1304925" y="36086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1343025" y="360863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Transport Authorities: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Need punctuality and delay reports.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1304925" y="43134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343025" y="431348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Passengers: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Indirect beneficiaries through improved service.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Requirements Gathering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/>
        </p:nvSpPr>
        <p:spPr>
          <a:xfrm>
            <a:off x="571500" y="31425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Functional Requirements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381750" y="32949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Non-Functional Requirements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885825" y="361875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952500" y="361875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Dashboard showing KPIs (delays, refunds, sales, booking volume).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85825" y="432360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952500" y="43236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Filters by date, route, station, and payment method.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885825" y="472365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952500" y="47236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Interactive visuals (maps, charts, drill-down reports).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648450" y="377115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762750" y="37711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Dashboard loads within 5 seconds.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648450" y="417120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762750" y="41712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Clean and accessible visualization style.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648450" y="457125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762750" y="45712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Scalable data model to handle future datasets.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Functional &amp; Non-Functional Requirements</a:t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98985"/>
            <a:ext cx="5238750" cy="3687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98985"/>
            <a:ext cx="5238750" cy="368751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 txBox="1"/>
          <p:nvPr/>
        </p:nvSpPr>
        <p:spPr>
          <a:xfrm>
            <a:off x="571500" y="196081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Problem Statement: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Manual analysis consumes time and misses patterns. Automation supports better decision-making.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962025" y="325621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Software Architecture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6772275" y="325621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Flow (DFD)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304925" y="373246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343025" y="3732460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Source: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CSV files from DEPI datasets.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304925" y="413251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343025" y="4132510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Backend Processing: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Python (Data cleaning/transformation).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304925" y="483736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343025" y="4837360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Visualization Layer: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Power BI dashboard.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7258050" y="373246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1.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7343775" y="3732460"/>
            <a:ext cx="388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Extract data from DEPI dataset.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7200900" y="4132510"/>
            <a:ext cx="142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2.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7343775" y="4132510"/>
            <a:ext cx="388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Transform using Python scripts.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7210425" y="4532560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7343775" y="4532560"/>
            <a:ext cx="388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Load into Power BI.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7200900" y="4932610"/>
            <a:ext cx="142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4.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7343775" y="4932610"/>
            <a:ext cx="388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Generate and analyze KPIs.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Architecture &amp; Data Flow</a:t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18580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 txBox="1"/>
          <p:nvPr/>
        </p:nvSpPr>
        <p:spPr>
          <a:xfrm>
            <a:off x="571500" y="213285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Logical Schema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571500" y="45141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Physical Schema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914400" y="26281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952500" y="262815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Fact Table: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Fact_Train_Rides (Transaction, Stations, Dates, Times, Ticket, Payment, Price, Refund).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914400" y="33330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952500" y="333300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Dimensions: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Dim_Station, Dim_Date, Dim_Time, Dim_Payment, Dim_Ticket, Dim_Railcard, Dim_Status, Dim_DelayReason.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914400" y="50094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952500" y="50094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Primary Keys: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Transaction_ID, Station_ID, Date_ID, etc.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914400" y="54094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952500" y="540945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Structure: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Star Schema connecting Fact table to Dimension tables via foreign keys.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Database Schema (Logical &amp; Physical)</a:t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3"/>
          <p:cNvSpPr txBox="1"/>
          <p:nvPr/>
        </p:nvSpPr>
        <p:spPr>
          <a:xfrm>
            <a:off x="96202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Columns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677227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KPIs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304925" y="29228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1343025" y="29228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Transaction ID, Trip ID, Customer ID.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1304925" y="33228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1343025" y="33228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Departure/Arrival Time, Delay (minutes).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1304925" y="37229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1343025" y="37229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 Request, Payment Method, Ticket Price.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1304925" y="41229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1343025" y="41229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Route, Station From, Station To.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1304925" y="45230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1343025" y="45230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Date of Travel, Booking Date.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7153275" y="29228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Total number of trips.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7153275" y="33228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Average delay time per route.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7153275" y="37229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Total refund requests &amp; Refund Rate.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7153275" y="41229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On-time performance ratio.</a:t>
            </a:r>
            <a:endParaRPr/>
          </a:p>
        </p:txBody>
      </p:sp>
      <p:pic>
        <p:nvPicPr>
          <p:cNvPr id="328" name="Google Shape;3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53275" y="297522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53275" y="33752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53275" y="377532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53275" y="417537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3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 Overview (Columns)</a:t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4"/>
          <p:cNvSpPr/>
          <p:nvPr/>
        </p:nvSpPr>
        <p:spPr>
          <a:xfrm>
            <a:off x="5619750" y="2300882"/>
            <a:ext cx="9525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1555432" y="3067347"/>
            <a:ext cx="908113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Section 3: Technical Implementation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998886"/>
            <a:ext cx="5238750" cy="205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5"/>
          <p:cNvSpPr txBox="1"/>
          <p:nvPr/>
        </p:nvSpPr>
        <p:spPr>
          <a:xfrm>
            <a:off x="571500" y="325204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Scope: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End-to-end data analysis pipeline.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571500" y="374734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Main Areas: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Data ingestion, cleaning, feature engineering, visualization, export.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571500" y="454744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Output: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Charts + cleaned CSV.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6677025" y="3522761"/>
            <a:ext cx="46482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"This project uses a complete Python pipeline to turn raw railway transactions into visual insights."</a:t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Python Analysis Workflow (Overview)</a:t>
            </a:r>
            <a:endParaRPr/>
          </a:p>
        </p:txBody>
      </p:sp>
      <p:sp>
        <p:nvSpPr>
          <p:cNvPr id="352" name="Google Shape;352;p25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385393"/>
            <a:ext cx="523875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6"/>
          <p:cNvSpPr txBox="1"/>
          <p:nvPr/>
        </p:nvSpPr>
        <p:spPr>
          <a:xfrm>
            <a:off x="571500" y="32949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Import Libraries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6381750" y="2918668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Load &amp; Initial EDA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6381750" y="495701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Understand shape, types, missing values.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914400" y="37711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63" name="Google Shape;363;p26"/>
          <p:cNvSpPr txBox="1"/>
          <p:nvPr/>
        </p:nvSpPr>
        <p:spPr>
          <a:xfrm>
            <a:off x="952500" y="37711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pandas, numpy (Manipulation &amp; numeric ops).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914400" y="41712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952500" y="41712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matplotlib.pyplot, seaborn (Plotting &amp; styling).</a:t>
            </a:r>
            <a:endParaRPr/>
          </a:p>
        </p:txBody>
      </p:sp>
      <p:sp>
        <p:nvSpPr>
          <p:cNvPr id="366" name="Google Shape;366;p26"/>
          <p:cNvSpPr txBox="1"/>
          <p:nvPr/>
        </p:nvSpPr>
        <p:spPr>
          <a:xfrm>
            <a:off x="914400" y="45712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67" name="Google Shape;367;p26"/>
          <p:cNvSpPr txBox="1"/>
          <p:nvPr/>
        </p:nvSpPr>
        <p:spPr>
          <a:xfrm>
            <a:off x="952500" y="45712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os (Filesystem operations).</a:t>
            </a:r>
            <a:endParaRPr/>
          </a:p>
        </p:txBody>
      </p:sp>
      <p:sp>
        <p:nvSpPr>
          <p:cNvPr id="368" name="Google Shape;368;p26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Setup &amp; Loading</a:t>
            </a: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7"/>
          <p:cNvSpPr txBox="1"/>
          <p:nvPr/>
        </p:nvSpPr>
        <p:spPr>
          <a:xfrm>
            <a:off x="96202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Steps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677227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Missing Values &amp; Standardization</a:t>
            </a:r>
            <a:endParaRPr/>
          </a:p>
        </p:txBody>
      </p:sp>
      <p:sp>
        <p:nvSpPr>
          <p:cNvPr id="379" name="Google Shape;379;p27"/>
          <p:cNvSpPr txBox="1"/>
          <p:nvPr/>
        </p:nvSpPr>
        <p:spPr>
          <a:xfrm>
            <a:off x="1304925" y="29037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80" name="Google Shape;380;p27"/>
          <p:cNvSpPr txBox="1"/>
          <p:nvPr/>
        </p:nvSpPr>
        <p:spPr>
          <a:xfrm>
            <a:off x="1343025" y="29037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Trim column &amp; string whitespace.</a:t>
            </a:r>
            <a:endParaRPr/>
          </a:p>
        </p:txBody>
      </p:sp>
      <p:sp>
        <p:nvSpPr>
          <p:cNvPr id="381" name="Google Shape;381;p27"/>
          <p:cNvSpPr txBox="1"/>
          <p:nvPr/>
        </p:nvSpPr>
        <p:spPr>
          <a:xfrm>
            <a:off x="1304925" y="33038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1343025" y="33038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Drop duplicate rows.</a:t>
            </a:r>
            <a:endParaRPr/>
          </a:p>
        </p:txBody>
      </p:sp>
      <p:sp>
        <p:nvSpPr>
          <p:cNvPr id="383" name="Google Shape;383;p27"/>
          <p:cNvSpPr txBox="1"/>
          <p:nvPr/>
        </p:nvSpPr>
        <p:spPr>
          <a:xfrm>
            <a:off x="1304925" y="37038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84" name="Google Shape;384;p27"/>
          <p:cNvSpPr txBox="1"/>
          <p:nvPr/>
        </p:nvSpPr>
        <p:spPr>
          <a:xfrm>
            <a:off x="1343025" y="370388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Convert dates: pd.to_datetime(..., errors='coerce').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7115175" y="29037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7153275" y="290378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Fill NaNs with domain defaults (e.g., 'No Delay', 'No Railcard').</a:t>
            </a:r>
            <a:endParaRPr/>
          </a:p>
        </p:txBody>
      </p:sp>
      <p:sp>
        <p:nvSpPr>
          <p:cNvPr id="387" name="Google Shape;387;p27"/>
          <p:cNvSpPr txBox="1"/>
          <p:nvPr/>
        </p:nvSpPr>
        <p:spPr>
          <a:xfrm>
            <a:off x="7115175" y="36086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88" name="Google Shape;388;p27"/>
          <p:cNvSpPr txBox="1"/>
          <p:nvPr/>
        </p:nvSpPr>
        <p:spPr>
          <a:xfrm>
            <a:off x="7153275" y="360863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Standardize inconsistent labels (e.g., "Staffing" → "Staff Shortage").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Cleaning</a:t>
            </a:r>
            <a:endParaRPr/>
          </a:p>
        </p:txBody>
      </p:sp>
      <p:sp>
        <p:nvSpPr>
          <p:cNvPr id="390" name="Google Shape;390;p27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5525" y="3313955"/>
            <a:ext cx="17907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8"/>
          <p:cNvSpPr txBox="1"/>
          <p:nvPr/>
        </p:nvSpPr>
        <p:spPr>
          <a:xfrm>
            <a:off x="6381750" y="273293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Created Features</a:t>
            </a:r>
            <a:endParaRPr/>
          </a:p>
        </p:txBody>
      </p:sp>
      <p:sp>
        <p:nvSpPr>
          <p:cNvPr id="398" name="Google Shape;398;p28"/>
          <p:cNvSpPr txBox="1"/>
          <p:nvPr/>
        </p:nvSpPr>
        <p:spPr>
          <a:xfrm>
            <a:off x="6381750" y="324728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Routes = Departure Station + " → " + Arrival Destination.</a:t>
            </a:r>
            <a:endParaRPr/>
          </a:p>
        </p:txBody>
      </p:sp>
      <p:sp>
        <p:nvSpPr>
          <p:cNvPr id="399" name="Google Shape;399;p28"/>
          <p:cNvSpPr txBox="1"/>
          <p:nvPr/>
        </p:nvSpPr>
        <p:spPr>
          <a:xfrm>
            <a:off x="6381750" y="374258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Combined/Derived features for analysis (Route revenue, delay buckets).</a:t>
            </a:r>
            <a:endParaRPr/>
          </a:p>
        </p:txBody>
      </p:sp>
      <p:sp>
        <p:nvSpPr>
          <p:cNvPr id="400" name="Google Shape;400;p28"/>
          <p:cNvSpPr txBox="1"/>
          <p:nvPr/>
        </p:nvSpPr>
        <p:spPr>
          <a:xfrm>
            <a:off x="6381750" y="4828430"/>
            <a:ext cx="5238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Simplifies downstream grouping and top-N analyses.</a:t>
            </a:r>
            <a:endParaRPr/>
          </a:p>
        </p:txBody>
      </p:sp>
      <p:sp>
        <p:nvSpPr>
          <p:cNvPr id="401" name="Google Shape;401;p28"/>
          <p:cNvSpPr/>
          <p:nvPr/>
        </p:nvSpPr>
        <p:spPr>
          <a:xfrm>
            <a:off x="6381750" y="4637930"/>
            <a:ext cx="5238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8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Feature Engineering</a:t>
            </a:r>
            <a:endParaRPr/>
          </a:p>
        </p:txBody>
      </p:sp>
      <p:sp>
        <p:nvSpPr>
          <p:cNvPr id="403" name="Google Shape;403;p28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99655"/>
            <a:ext cx="34924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3199655"/>
            <a:ext cx="349254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3199655"/>
            <a:ext cx="34924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9"/>
          <p:cNvSpPr txBox="1"/>
          <p:nvPr/>
        </p:nvSpPr>
        <p:spPr>
          <a:xfrm>
            <a:off x="571500" y="206618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Directories: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save_path = "D:/Railway_Charts" (os.makedirs).</a:t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571500" y="256148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Settings: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sns.set_style("whitegrid"). Custom palette for consistent branding (blue tones).</a:t>
            </a:r>
            <a:endParaRPr/>
          </a:p>
        </p:txBody>
      </p:sp>
      <p:pic>
        <p:nvPicPr>
          <p:cNvPr id="414" name="Google Shape;414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7200" y="348540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 txBox="1"/>
          <p:nvPr/>
        </p:nvSpPr>
        <p:spPr>
          <a:xfrm>
            <a:off x="784227" y="4323605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Sales Scope</a:t>
            </a:r>
            <a:endParaRPr/>
          </a:p>
        </p:txBody>
      </p:sp>
      <p:sp>
        <p:nvSpPr>
          <p:cNvPr id="416" name="Google Shape;416;p29"/>
          <p:cNvSpPr txBox="1"/>
          <p:nvPr/>
        </p:nvSpPr>
        <p:spPr>
          <a:xfrm>
            <a:off x="857250" y="483795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Revenue (Net/Gross), Price by ticket class, Railcard impact.</a:t>
            </a:r>
            <a:endParaRPr/>
          </a:p>
        </p:txBody>
      </p:sp>
      <p:pic>
        <p:nvPicPr>
          <p:cNvPr id="417" name="Google Shape;417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348540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9"/>
          <p:cNvSpPr txBox="1"/>
          <p:nvPr/>
        </p:nvSpPr>
        <p:spPr>
          <a:xfrm>
            <a:off x="4562374" y="4323605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Customer Scope</a:t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4635400" y="483795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Payment methods, Railcard usage, Refund requests by payment channel.</a:t>
            </a:r>
            <a:endParaRPr/>
          </a:p>
        </p:txBody>
      </p:sp>
      <p:pic>
        <p:nvPicPr>
          <p:cNvPr id="420" name="Google Shape;420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07463" y="348540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9"/>
          <p:cNvSpPr txBox="1"/>
          <p:nvPr/>
        </p:nvSpPr>
        <p:spPr>
          <a:xfrm>
            <a:off x="8340677" y="4323605"/>
            <a:ext cx="306694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Operation Scope</a:t>
            </a:r>
            <a:endParaRPr/>
          </a:p>
        </p:txBody>
      </p:sp>
      <p:sp>
        <p:nvSpPr>
          <p:cNvPr id="422" name="Google Shape;422;p29"/>
          <p:cNvSpPr txBox="1"/>
          <p:nvPr/>
        </p:nvSpPr>
        <p:spPr>
          <a:xfrm>
            <a:off x="8413700" y="483795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Journey status, Delay reasons, Peak delay times, Cancellation rates.</a:t>
            </a:r>
            <a:endParaRPr/>
          </a:p>
        </p:txBody>
      </p:sp>
      <p:sp>
        <p:nvSpPr>
          <p:cNvPr id="423" name="Google Shape;423;p29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Visualization Setup &amp; Analysis Scopes</a:t>
            </a:r>
            <a:endParaRPr/>
          </a:p>
        </p:txBody>
      </p:sp>
      <p:sp>
        <p:nvSpPr>
          <p:cNvPr id="424" name="Google Shape;424;p29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85405"/>
            <a:ext cx="523875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0"/>
          <p:cNvSpPr txBox="1"/>
          <p:nvPr/>
        </p:nvSpPr>
        <p:spPr>
          <a:xfrm>
            <a:off x="571500" y="301868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Export</a:t>
            </a:r>
            <a:endParaRPr/>
          </a:p>
        </p:txBody>
      </p:sp>
      <p:sp>
        <p:nvSpPr>
          <p:cNvPr id="432" name="Google Shape;432;p30"/>
          <p:cNvSpPr txBox="1"/>
          <p:nvPr/>
        </p:nvSpPr>
        <p:spPr>
          <a:xfrm>
            <a:off x="571500" y="485700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Source for Power BI and reproducibility.</a:t>
            </a:r>
            <a:endParaRPr/>
          </a:p>
        </p:txBody>
      </p:sp>
      <p:sp>
        <p:nvSpPr>
          <p:cNvPr id="433" name="Google Shape;433;p30"/>
          <p:cNvSpPr txBox="1"/>
          <p:nvPr/>
        </p:nvSpPr>
        <p:spPr>
          <a:xfrm>
            <a:off x="6381750" y="31425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Summary</a:t>
            </a:r>
            <a:endParaRPr/>
          </a:p>
        </p:txBody>
      </p:sp>
      <p:sp>
        <p:nvSpPr>
          <p:cNvPr id="434" name="Google Shape;434;p30"/>
          <p:cNvSpPr txBox="1"/>
          <p:nvPr/>
        </p:nvSpPr>
        <p:spPr>
          <a:xfrm>
            <a:off x="6724650" y="36187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35" name="Google Shape;435;p30"/>
          <p:cNvSpPr txBox="1"/>
          <p:nvPr/>
        </p:nvSpPr>
        <p:spPr>
          <a:xfrm>
            <a:off x="6762750" y="36187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Inputs: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Raw CSV.</a:t>
            </a:r>
            <a:endParaRPr/>
          </a:p>
        </p:txBody>
      </p:sp>
      <p:sp>
        <p:nvSpPr>
          <p:cNvPr id="436" name="Google Shape;436;p30"/>
          <p:cNvSpPr txBox="1"/>
          <p:nvPr/>
        </p:nvSpPr>
        <p:spPr>
          <a:xfrm>
            <a:off x="6724650" y="40188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37" name="Google Shape;437;p30"/>
          <p:cNvSpPr txBox="1"/>
          <p:nvPr/>
        </p:nvSpPr>
        <p:spPr>
          <a:xfrm>
            <a:off x="6762750" y="40188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Process: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EDA → Cleaning → Engineering → Viz.</a:t>
            </a:r>
            <a:endParaRPr/>
          </a:p>
        </p:txBody>
      </p:sp>
      <p:sp>
        <p:nvSpPr>
          <p:cNvPr id="438" name="Google Shape;438;p30"/>
          <p:cNvSpPr txBox="1"/>
          <p:nvPr/>
        </p:nvSpPr>
        <p:spPr>
          <a:xfrm>
            <a:off x="6724650" y="44188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39" name="Google Shape;439;p30"/>
          <p:cNvSpPr txBox="1"/>
          <p:nvPr/>
        </p:nvSpPr>
        <p:spPr>
          <a:xfrm>
            <a:off x="6762750" y="441885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Value: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Revenue trends, delay causes, operational hotspots.</a:t>
            </a:r>
            <a:endParaRPr/>
          </a:p>
        </p:txBody>
      </p:sp>
      <p:sp>
        <p:nvSpPr>
          <p:cNvPr id="440" name="Google Shape;440;p30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Export &amp; Summary</a:t>
            </a:r>
            <a:endParaRPr/>
          </a:p>
        </p:txBody>
      </p:sp>
      <p:sp>
        <p:nvSpPr>
          <p:cNvPr id="441" name="Google Shape;441;p30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1"/>
          <p:cNvSpPr/>
          <p:nvPr/>
        </p:nvSpPr>
        <p:spPr>
          <a:xfrm>
            <a:off x="5619750" y="2300882"/>
            <a:ext cx="9525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1375409" y="3067347"/>
            <a:ext cx="944118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Section 4: Data Modeling for Power BI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2"/>
          <p:cNvSpPr txBox="1"/>
          <p:nvPr/>
        </p:nvSpPr>
        <p:spPr>
          <a:xfrm>
            <a:off x="96202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Fact Table (Fact_Data)</a:t>
            </a:r>
            <a:endParaRPr/>
          </a:p>
        </p:txBody>
      </p:sp>
      <p:sp>
        <p:nvSpPr>
          <p:cNvPr id="457" name="Google Shape;457;p32"/>
          <p:cNvSpPr txBox="1"/>
          <p:nvPr/>
        </p:nvSpPr>
        <p:spPr>
          <a:xfrm>
            <a:off x="962025" y="294188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Role: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Central table containing quantitative data (transactions).</a:t>
            </a:r>
            <a:endParaRPr/>
          </a:p>
        </p:txBody>
      </p:sp>
      <p:sp>
        <p:nvSpPr>
          <p:cNvPr id="458" name="Google Shape;458;p32"/>
          <p:cNvSpPr txBox="1"/>
          <p:nvPr/>
        </p:nvSpPr>
        <p:spPr>
          <a:xfrm>
            <a:off x="962025" y="374198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Contents: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Date of Journey, Purchase, Foreign Keys (DimDelay.Delay_ID, etc.).</a:t>
            </a:r>
            <a:endParaRPr/>
          </a:p>
        </p:txBody>
      </p:sp>
      <p:sp>
        <p:nvSpPr>
          <p:cNvPr id="459" name="Google Shape;459;p32"/>
          <p:cNvSpPr txBox="1"/>
          <p:nvPr/>
        </p:nvSpPr>
        <p:spPr>
          <a:xfrm>
            <a:off x="677227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Dimension Tables (Dims)</a:t>
            </a:r>
            <a:endParaRPr/>
          </a:p>
        </p:txBody>
      </p:sp>
      <p:sp>
        <p:nvSpPr>
          <p:cNvPr id="460" name="Google Shape;460;p32"/>
          <p:cNvSpPr txBox="1"/>
          <p:nvPr/>
        </p:nvSpPr>
        <p:spPr>
          <a:xfrm>
            <a:off x="6772275" y="294188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Surround the Fact table (One-to-Many).</a:t>
            </a:r>
            <a:endParaRPr/>
          </a:p>
        </p:txBody>
      </p:sp>
      <p:sp>
        <p:nvSpPr>
          <p:cNvPr id="461" name="Google Shape;461;p32"/>
          <p:cNvSpPr txBox="1"/>
          <p:nvPr/>
        </p:nvSpPr>
        <p:spPr>
          <a:xfrm>
            <a:off x="6772275" y="343718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Tables: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DimStation (Details), DimTime, DimTicket (Class/Type), DimPaymentMethod, DimRailcard, DimJourneyStatus, DimPurchaseType, DimDelay (Reasons), Calendar.</a:t>
            </a:r>
            <a:endParaRPr/>
          </a:p>
        </p:txBody>
      </p:sp>
      <p:sp>
        <p:nvSpPr>
          <p:cNvPr id="462" name="Google Shape;462;p32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Model Structure (Star Schema)</a:t>
            </a:r>
            <a:endParaRPr/>
          </a:p>
        </p:txBody>
      </p:sp>
      <p:sp>
        <p:nvSpPr>
          <p:cNvPr id="463" name="Google Shape;463;p32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3"/>
          <p:cNvSpPr txBox="1"/>
          <p:nvPr/>
        </p:nvSpPr>
        <p:spPr>
          <a:xfrm>
            <a:off x="571500" y="3433018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Measures Table</a:t>
            </a:r>
            <a:endParaRPr/>
          </a:p>
        </p:txBody>
      </p:sp>
      <p:sp>
        <p:nvSpPr>
          <p:cNvPr id="470" name="Google Shape;470;p33"/>
          <p:cNvSpPr txBox="1"/>
          <p:nvPr/>
        </p:nvSpPr>
        <p:spPr>
          <a:xfrm>
            <a:off x="571500" y="394736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Container for DAX calculations.</a:t>
            </a:r>
            <a:endParaRPr/>
          </a:p>
        </p:txBody>
      </p:sp>
      <p:sp>
        <p:nvSpPr>
          <p:cNvPr id="471" name="Google Shape;471;p33"/>
          <p:cNvSpPr txBox="1"/>
          <p:nvPr/>
        </p:nvSpPr>
        <p:spPr>
          <a:xfrm>
            <a:off x="571500" y="444266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Examples: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Average Ticket Price, Cancellation Rate %.</a:t>
            </a:r>
            <a:endParaRPr/>
          </a:p>
        </p:txBody>
      </p:sp>
      <p:sp>
        <p:nvSpPr>
          <p:cNvPr id="472" name="Google Shape;472;p33"/>
          <p:cNvSpPr txBox="1"/>
          <p:nvPr/>
        </p:nvSpPr>
        <p:spPr>
          <a:xfrm>
            <a:off x="6381750" y="31425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4. How They Work Together</a:t>
            </a:r>
            <a:endParaRPr/>
          </a:p>
        </p:txBody>
      </p:sp>
      <p:sp>
        <p:nvSpPr>
          <p:cNvPr id="473" name="Google Shape;473;p33"/>
          <p:cNvSpPr txBox="1"/>
          <p:nvPr/>
        </p:nvSpPr>
        <p:spPr>
          <a:xfrm>
            <a:off x="6724650" y="36187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74" name="Google Shape;474;p33"/>
          <p:cNvSpPr txBox="1"/>
          <p:nvPr/>
        </p:nvSpPr>
        <p:spPr>
          <a:xfrm>
            <a:off x="6762750" y="36187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Fact_Data in the center (Many side).</a:t>
            </a:r>
            <a:endParaRPr/>
          </a:p>
        </p:txBody>
      </p:sp>
      <p:sp>
        <p:nvSpPr>
          <p:cNvPr id="475" name="Google Shape;475;p33"/>
          <p:cNvSpPr txBox="1"/>
          <p:nvPr/>
        </p:nvSpPr>
        <p:spPr>
          <a:xfrm>
            <a:off x="6724650" y="40188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76" name="Google Shape;476;p33"/>
          <p:cNvSpPr txBox="1"/>
          <p:nvPr/>
        </p:nvSpPr>
        <p:spPr>
          <a:xfrm>
            <a:off x="6762750" y="40188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Dimensions surrounding (One side).</a:t>
            </a:r>
            <a:endParaRPr/>
          </a:p>
        </p:txBody>
      </p:sp>
      <p:sp>
        <p:nvSpPr>
          <p:cNvPr id="477" name="Google Shape;477;p33"/>
          <p:cNvSpPr txBox="1"/>
          <p:nvPr/>
        </p:nvSpPr>
        <p:spPr>
          <a:xfrm>
            <a:off x="6724650" y="44188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78" name="Google Shape;478;p33"/>
          <p:cNvSpPr txBox="1"/>
          <p:nvPr/>
        </p:nvSpPr>
        <p:spPr>
          <a:xfrm>
            <a:off x="6762750" y="441885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Allows filtering millions of records by attributes like Station Name or Month.</a:t>
            </a:r>
            <a:endParaRPr/>
          </a:p>
        </p:txBody>
      </p:sp>
      <p:sp>
        <p:nvSpPr>
          <p:cNvPr id="479" name="Google Shape;479;p33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Special Tables &amp; Interactions</a:t>
            </a:r>
            <a:endParaRPr/>
          </a:p>
        </p:txBody>
      </p:sp>
      <p:sp>
        <p:nvSpPr>
          <p:cNvPr id="480" name="Google Shape;480;p33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4"/>
          <p:cNvSpPr txBox="1"/>
          <p:nvPr/>
        </p:nvSpPr>
        <p:spPr>
          <a:xfrm>
            <a:off x="571500" y="903535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Dashboard Intro Page</a:t>
            </a:r>
            <a:endParaRPr/>
          </a:p>
        </p:txBody>
      </p:sp>
      <p:sp>
        <p:nvSpPr>
          <p:cNvPr id="487" name="Google Shape;487;p34"/>
          <p:cNvSpPr txBox="1"/>
          <p:nvPr/>
        </p:nvSpPr>
        <p:spPr>
          <a:xfrm>
            <a:off x="571500" y="236621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Navigation hub and project cover.</a:t>
            </a:r>
            <a:endParaRPr/>
          </a:p>
        </p:txBody>
      </p:sp>
      <p:sp>
        <p:nvSpPr>
          <p:cNvPr id="488" name="Google Shape;488;p34"/>
          <p:cNvSpPr txBox="1"/>
          <p:nvPr/>
        </p:nvSpPr>
        <p:spPr>
          <a:xfrm>
            <a:off x="571500" y="3004393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Identity: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Group Code (YAT525A...), Members List.</a:t>
            </a:r>
            <a:endParaRPr/>
          </a:p>
        </p:txBody>
      </p:sp>
      <p:sp>
        <p:nvSpPr>
          <p:cNvPr id="489" name="Google Shape;489;p34"/>
          <p:cNvSpPr txBox="1"/>
          <p:nvPr/>
        </p:nvSpPr>
        <p:spPr>
          <a:xfrm>
            <a:off x="571500" y="3642568"/>
            <a:ext cx="5200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Navigation Bar:</a:t>
            </a:r>
            <a:endParaRPr/>
          </a:p>
        </p:txBody>
      </p:sp>
      <p:sp>
        <p:nvSpPr>
          <p:cNvPr id="490" name="Google Shape;490;p34"/>
          <p:cNvSpPr txBox="1"/>
          <p:nvPr/>
        </p:nvSpPr>
        <p:spPr>
          <a:xfrm>
            <a:off x="914400" y="416644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91" name="Google Shape;491;p34"/>
          <p:cNvSpPr txBox="1"/>
          <p:nvPr/>
        </p:nvSpPr>
        <p:spPr>
          <a:xfrm>
            <a:off x="952500" y="416644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Operational Overview</a:t>
            </a:r>
            <a:endParaRPr/>
          </a:p>
        </p:txBody>
      </p:sp>
      <p:sp>
        <p:nvSpPr>
          <p:cNvPr id="492" name="Google Shape;492;p34"/>
          <p:cNvSpPr txBox="1"/>
          <p:nvPr/>
        </p:nvSpPr>
        <p:spPr>
          <a:xfrm>
            <a:off x="914400" y="45664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93" name="Google Shape;493;p34"/>
          <p:cNvSpPr txBox="1"/>
          <p:nvPr/>
        </p:nvSpPr>
        <p:spPr>
          <a:xfrm>
            <a:off x="952500" y="45664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Executive Performance</a:t>
            </a:r>
            <a:endParaRPr/>
          </a:p>
        </p:txBody>
      </p:sp>
      <p:sp>
        <p:nvSpPr>
          <p:cNvPr id="494" name="Google Shape;494;p34"/>
          <p:cNvSpPr txBox="1"/>
          <p:nvPr/>
        </p:nvSpPr>
        <p:spPr>
          <a:xfrm>
            <a:off x="914400" y="496654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95" name="Google Shape;495;p34"/>
          <p:cNvSpPr txBox="1"/>
          <p:nvPr/>
        </p:nvSpPr>
        <p:spPr>
          <a:xfrm>
            <a:off x="952500" y="496654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Delays Reason</a:t>
            </a:r>
            <a:endParaRPr/>
          </a:p>
        </p:txBody>
      </p:sp>
      <p:sp>
        <p:nvSpPr>
          <p:cNvPr id="496" name="Google Shape;496;p34"/>
          <p:cNvSpPr txBox="1"/>
          <p:nvPr/>
        </p:nvSpPr>
        <p:spPr>
          <a:xfrm>
            <a:off x="914400" y="53665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97" name="Google Shape;497;p34"/>
          <p:cNvSpPr txBox="1"/>
          <p:nvPr/>
        </p:nvSpPr>
        <p:spPr>
          <a:xfrm>
            <a:off x="952500" y="53665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5"/>
          <p:cNvSpPr txBox="1"/>
          <p:nvPr/>
        </p:nvSpPr>
        <p:spPr>
          <a:xfrm>
            <a:off x="571500" y="903535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Operational Overview</a:t>
            </a:r>
            <a:endParaRPr/>
          </a:p>
        </p:txBody>
      </p:sp>
      <p:sp>
        <p:nvSpPr>
          <p:cNvPr id="504" name="Google Shape;504;p35"/>
          <p:cNvSpPr txBox="1"/>
          <p:nvPr/>
        </p:nvSpPr>
        <p:spPr>
          <a:xfrm>
            <a:off x="571500" y="1662974"/>
            <a:ext cx="4953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Focus: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General health of railway operations.</a:t>
            </a:r>
            <a:endParaRPr lang="en-US" sz="2000" dirty="0"/>
          </a:p>
        </p:txBody>
      </p:sp>
      <p:sp>
        <p:nvSpPr>
          <p:cNvPr id="505" name="Google Shape;505;p35"/>
          <p:cNvSpPr txBox="1"/>
          <p:nvPr/>
        </p:nvSpPr>
        <p:spPr>
          <a:xfrm>
            <a:off x="571500" y="2680544"/>
            <a:ext cx="107669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Top KPIs:</a:t>
            </a:r>
            <a:endParaRPr sz="1800" dirty="0"/>
          </a:p>
        </p:txBody>
      </p:sp>
      <p:sp>
        <p:nvSpPr>
          <p:cNvPr id="506" name="Google Shape;506;p35"/>
          <p:cNvSpPr txBox="1"/>
          <p:nvPr/>
        </p:nvSpPr>
        <p:spPr>
          <a:xfrm>
            <a:off x="571500" y="4461719"/>
            <a:ext cx="96239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Charts:</a:t>
            </a:r>
            <a:endParaRPr sz="1800" dirty="0"/>
          </a:p>
        </p:txBody>
      </p:sp>
      <p:sp>
        <p:nvSpPr>
          <p:cNvPr id="507" name="Google Shape;507;p35"/>
          <p:cNvSpPr txBox="1"/>
          <p:nvPr/>
        </p:nvSpPr>
        <p:spPr>
          <a:xfrm>
            <a:off x="914400" y="301391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08" name="Google Shape;508;p35"/>
          <p:cNvSpPr txBox="1"/>
          <p:nvPr/>
        </p:nvSpPr>
        <p:spPr>
          <a:xfrm>
            <a:off x="952500" y="301391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Total Sold Tickets: 32K</a:t>
            </a:r>
            <a:endParaRPr/>
          </a:p>
        </p:txBody>
      </p:sp>
      <p:sp>
        <p:nvSpPr>
          <p:cNvPr id="509" name="Google Shape;509;p35"/>
          <p:cNvSpPr txBox="1"/>
          <p:nvPr/>
        </p:nvSpPr>
        <p:spPr>
          <a:xfrm>
            <a:off x="914400" y="341396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10" name="Google Shape;510;p35"/>
          <p:cNvSpPr txBox="1"/>
          <p:nvPr/>
        </p:nvSpPr>
        <p:spPr>
          <a:xfrm>
            <a:off x="952500" y="341396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Net Revenue: 703K</a:t>
            </a:r>
            <a:endParaRPr/>
          </a:p>
        </p:txBody>
      </p:sp>
      <p:sp>
        <p:nvSpPr>
          <p:cNvPr id="511" name="Google Shape;511;p35"/>
          <p:cNvSpPr txBox="1"/>
          <p:nvPr/>
        </p:nvSpPr>
        <p:spPr>
          <a:xfrm>
            <a:off x="914400" y="381401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12" name="Google Shape;512;p35"/>
          <p:cNvSpPr txBox="1"/>
          <p:nvPr/>
        </p:nvSpPr>
        <p:spPr>
          <a:xfrm>
            <a:off x="952500" y="381401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Cancelled Journeys: 1880</a:t>
            </a:r>
            <a:endParaRPr/>
          </a:p>
        </p:txBody>
      </p:sp>
      <p:sp>
        <p:nvSpPr>
          <p:cNvPr id="513" name="Google Shape;513;p35"/>
          <p:cNvSpPr txBox="1"/>
          <p:nvPr/>
        </p:nvSpPr>
        <p:spPr>
          <a:xfrm>
            <a:off x="914400" y="47950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14" name="Google Shape;514;p35"/>
          <p:cNvSpPr txBox="1"/>
          <p:nvPr/>
        </p:nvSpPr>
        <p:spPr>
          <a:xfrm>
            <a:off x="952500" y="47950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Revenue Over Time (Line): Jan–Apr 2024.</a:t>
            </a:r>
            <a:endParaRPr/>
          </a:p>
        </p:txBody>
      </p:sp>
      <p:sp>
        <p:nvSpPr>
          <p:cNvPr id="515" name="Google Shape;515;p35"/>
          <p:cNvSpPr txBox="1"/>
          <p:nvPr/>
        </p:nvSpPr>
        <p:spPr>
          <a:xfrm>
            <a:off x="914400" y="519514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16" name="Google Shape;516;p35"/>
          <p:cNvSpPr txBox="1"/>
          <p:nvPr/>
        </p:nvSpPr>
        <p:spPr>
          <a:xfrm>
            <a:off x="952500" y="519514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Total Journeys by Status (Column).</a:t>
            </a:r>
            <a:endParaRPr/>
          </a:p>
        </p:txBody>
      </p:sp>
      <p:sp>
        <p:nvSpPr>
          <p:cNvPr id="517" name="Google Shape;517;p35"/>
          <p:cNvSpPr txBox="1"/>
          <p:nvPr/>
        </p:nvSpPr>
        <p:spPr>
          <a:xfrm>
            <a:off x="914400" y="55951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18" name="Google Shape;518;p35"/>
          <p:cNvSpPr txBox="1"/>
          <p:nvPr/>
        </p:nvSpPr>
        <p:spPr>
          <a:xfrm>
            <a:off x="952500" y="55951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Payment Method: Credit Card 60.46%.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6"/>
          <p:cNvSpPr txBox="1"/>
          <p:nvPr/>
        </p:nvSpPr>
        <p:spPr>
          <a:xfrm>
            <a:off x="571500" y="903535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Executive Performance</a:t>
            </a:r>
            <a:endParaRPr/>
          </a:p>
        </p:txBody>
      </p:sp>
      <p:sp>
        <p:nvSpPr>
          <p:cNvPr id="525" name="Google Shape;525;p36"/>
          <p:cNvSpPr txBox="1"/>
          <p:nvPr/>
        </p:nvSpPr>
        <p:spPr>
          <a:xfrm>
            <a:off x="571500" y="1913494"/>
            <a:ext cx="55245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Stakeholders’ view on profitability &amp; high-level stats.</a:t>
            </a:r>
            <a:endParaRPr sz="1800" dirty="0"/>
          </a:p>
        </p:txBody>
      </p:sp>
      <p:sp>
        <p:nvSpPr>
          <p:cNvPr id="526" name="Google Shape;526;p36"/>
          <p:cNvSpPr txBox="1"/>
          <p:nvPr/>
        </p:nvSpPr>
        <p:spPr>
          <a:xfrm>
            <a:off x="571500" y="2880569"/>
            <a:ext cx="10910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Top KPIs:</a:t>
            </a:r>
            <a:endParaRPr sz="1800" dirty="0"/>
          </a:p>
        </p:txBody>
      </p:sp>
      <p:sp>
        <p:nvSpPr>
          <p:cNvPr id="527" name="Google Shape;527;p36"/>
          <p:cNvSpPr txBox="1"/>
          <p:nvPr/>
        </p:nvSpPr>
        <p:spPr>
          <a:xfrm>
            <a:off x="571500" y="4261693"/>
            <a:ext cx="9485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Charts:</a:t>
            </a:r>
            <a:endParaRPr sz="1800" dirty="0"/>
          </a:p>
        </p:txBody>
      </p:sp>
      <p:sp>
        <p:nvSpPr>
          <p:cNvPr id="528" name="Google Shape;528;p36"/>
          <p:cNvSpPr txBox="1"/>
          <p:nvPr/>
        </p:nvSpPr>
        <p:spPr>
          <a:xfrm>
            <a:off x="914400" y="321394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29" name="Google Shape;529;p36"/>
          <p:cNvSpPr txBox="1"/>
          <p:nvPr/>
        </p:nvSpPr>
        <p:spPr>
          <a:xfrm>
            <a:off x="952500" y="321394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Refunded Journeys: 1,118</a:t>
            </a:r>
            <a:endParaRPr/>
          </a:p>
        </p:txBody>
      </p:sp>
      <p:sp>
        <p:nvSpPr>
          <p:cNvPr id="530" name="Google Shape;530;p36"/>
          <p:cNvSpPr txBox="1"/>
          <p:nvPr/>
        </p:nvSpPr>
        <p:spPr>
          <a:xfrm>
            <a:off x="914400" y="36139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31" name="Google Shape;531;p36"/>
          <p:cNvSpPr txBox="1"/>
          <p:nvPr/>
        </p:nvSpPr>
        <p:spPr>
          <a:xfrm>
            <a:off x="952500" y="36139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 Value: 39K</a:t>
            </a:r>
            <a:endParaRPr/>
          </a:p>
        </p:txBody>
      </p:sp>
      <p:sp>
        <p:nvSpPr>
          <p:cNvPr id="532" name="Google Shape;532;p36"/>
          <p:cNvSpPr txBox="1"/>
          <p:nvPr/>
        </p:nvSpPr>
        <p:spPr>
          <a:xfrm>
            <a:off x="914400" y="459506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33" name="Google Shape;533;p36"/>
          <p:cNvSpPr txBox="1"/>
          <p:nvPr/>
        </p:nvSpPr>
        <p:spPr>
          <a:xfrm>
            <a:off x="952500" y="4595068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Revenue by Departure Station (London Kings Cross highest).</a:t>
            </a:r>
            <a:endParaRPr/>
          </a:p>
        </p:txBody>
      </p:sp>
      <p:sp>
        <p:nvSpPr>
          <p:cNvPr id="534" name="Google Shape;534;p36"/>
          <p:cNvSpPr txBox="1"/>
          <p:nvPr/>
        </p:nvSpPr>
        <p:spPr>
          <a:xfrm>
            <a:off x="914400" y="529991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35" name="Google Shape;535;p36"/>
          <p:cNvSpPr txBox="1"/>
          <p:nvPr/>
        </p:nvSpPr>
        <p:spPr>
          <a:xfrm>
            <a:off x="952500" y="529991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Journey Status: On Time 86.82%.</a:t>
            </a:r>
            <a:endParaRPr/>
          </a:p>
        </p:txBody>
      </p:sp>
      <p:sp>
        <p:nvSpPr>
          <p:cNvPr id="536" name="Google Shape;536;p36"/>
          <p:cNvSpPr txBox="1"/>
          <p:nvPr/>
        </p:nvSpPr>
        <p:spPr>
          <a:xfrm>
            <a:off x="914400" y="569996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37" name="Google Shape;537;p36"/>
          <p:cNvSpPr txBox="1"/>
          <p:nvPr/>
        </p:nvSpPr>
        <p:spPr>
          <a:xfrm>
            <a:off x="952500" y="569996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Transaction by Railcard: 66.09% No Railcard.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37"/>
          <p:cNvSpPr txBox="1"/>
          <p:nvPr/>
        </p:nvSpPr>
        <p:spPr>
          <a:xfrm>
            <a:off x="571500" y="903535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Delays Reason</a:t>
            </a:r>
            <a:endParaRPr/>
          </a:p>
        </p:txBody>
      </p:sp>
      <p:sp>
        <p:nvSpPr>
          <p:cNvPr id="544" name="Google Shape;544;p37"/>
          <p:cNvSpPr txBox="1"/>
          <p:nvPr/>
        </p:nvSpPr>
        <p:spPr>
          <a:xfrm>
            <a:off x="571500" y="238824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Analyze the 7.24% of delayed journeys.</a:t>
            </a:r>
            <a:endParaRPr sz="1800" dirty="0"/>
          </a:p>
        </p:txBody>
      </p:sp>
      <p:sp>
        <p:nvSpPr>
          <p:cNvPr id="545" name="Google Shape;545;p37"/>
          <p:cNvSpPr txBox="1"/>
          <p:nvPr/>
        </p:nvSpPr>
        <p:spPr>
          <a:xfrm>
            <a:off x="571500" y="2880569"/>
            <a:ext cx="97229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Top KPIs:</a:t>
            </a:r>
            <a:endParaRPr sz="1800" dirty="0"/>
          </a:p>
        </p:txBody>
      </p:sp>
      <p:sp>
        <p:nvSpPr>
          <p:cNvPr id="546" name="Google Shape;546;p37"/>
          <p:cNvSpPr txBox="1"/>
          <p:nvPr/>
        </p:nvSpPr>
        <p:spPr>
          <a:xfrm>
            <a:off x="571500" y="4261693"/>
            <a:ext cx="106482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Charts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:</a:t>
            </a:r>
            <a:endParaRPr sz="1800" dirty="0"/>
          </a:p>
        </p:txBody>
      </p:sp>
      <p:sp>
        <p:nvSpPr>
          <p:cNvPr id="547" name="Google Shape;547;p37"/>
          <p:cNvSpPr txBox="1"/>
          <p:nvPr/>
        </p:nvSpPr>
        <p:spPr>
          <a:xfrm>
            <a:off x="914400" y="321394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48" name="Google Shape;548;p37"/>
          <p:cNvSpPr txBox="1"/>
          <p:nvPr/>
        </p:nvSpPr>
        <p:spPr>
          <a:xfrm>
            <a:off x="952500" y="321394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OnTime %: 86.82%</a:t>
            </a:r>
            <a:endParaRPr/>
          </a:p>
        </p:txBody>
      </p:sp>
      <p:sp>
        <p:nvSpPr>
          <p:cNvPr id="549" name="Google Shape;549;p37"/>
          <p:cNvSpPr txBox="1"/>
          <p:nvPr/>
        </p:nvSpPr>
        <p:spPr>
          <a:xfrm>
            <a:off x="914400" y="361399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50" name="Google Shape;550;p37"/>
          <p:cNvSpPr txBox="1"/>
          <p:nvPr/>
        </p:nvSpPr>
        <p:spPr>
          <a:xfrm>
            <a:off x="952500" y="3613993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Delayed Journeys %: 7.24%</a:t>
            </a:r>
            <a:endParaRPr/>
          </a:p>
        </p:txBody>
      </p:sp>
      <p:sp>
        <p:nvSpPr>
          <p:cNvPr id="551" name="Google Shape;551;p37"/>
          <p:cNvSpPr txBox="1"/>
          <p:nvPr/>
        </p:nvSpPr>
        <p:spPr>
          <a:xfrm>
            <a:off x="914400" y="459506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52" name="Google Shape;552;p37"/>
          <p:cNvSpPr txBox="1"/>
          <p:nvPr/>
        </p:nvSpPr>
        <p:spPr>
          <a:xfrm>
            <a:off x="952500" y="459506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Delayed by Reason: Weather top, then Technical.</a:t>
            </a:r>
            <a:endParaRPr dirty="0"/>
          </a:p>
        </p:txBody>
      </p:sp>
      <p:sp>
        <p:nvSpPr>
          <p:cNvPr id="553" name="Google Shape;553;p37"/>
          <p:cNvSpPr txBox="1"/>
          <p:nvPr/>
        </p:nvSpPr>
        <p:spPr>
          <a:xfrm>
            <a:off x="914400" y="499511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54" name="Google Shape;554;p37"/>
          <p:cNvSpPr txBox="1"/>
          <p:nvPr/>
        </p:nvSpPr>
        <p:spPr>
          <a:xfrm>
            <a:off x="952500" y="499511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Delayed by Month: Peak in March.</a:t>
            </a:r>
            <a:endParaRPr/>
          </a:p>
        </p:txBody>
      </p:sp>
      <p:sp>
        <p:nvSpPr>
          <p:cNvPr id="555" name="Google Shape;555;p37"/>
          <p:cNvSpPr txBox="1"/>
          <p:nvPr/>
        </p:nvSpPr>
        <p:spPr>
          <a:xfrm>
            <a:off x="914400" y="539516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56" name="Google Shape;556;p37"/>
          <p:cNvSpPr txBox="1"/>
          <p:nvPr/>
        </p:nvSpPr>
        <p:spPr>
          <a:xfrm>
            <a:off x="952500" y="5395168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Top Delayed Routes: Liverpool Lime St worst.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38"/>
          <p:cNvSpPr txBox="1"/>
          <p:nvPr/>
        </p:nvSpPr>
        <p:spPr>
          <a:xfrm>
            <a:off x="3495675" y="973559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Refunds &amp; Cancellations</a:t>
            </a:r>
            <a:endParaRPr dirty="0"/>
          </a:p>
        </p:txBody>
      </p:sp>
      <p:sp>
        <p:nvSpPr>
          <p:cNvPr id="563" name="Google Shape;563;p38"/>
          <p:cNvSpPr txBox="1"/>
          <p:nvPr/>
        </p:nvSpPr>
        <p:spPr>
          <a:xfrm>
            <a:off x="323850" y="2315064"/>
            <a:ext cx="57721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Analyze critical failures when trains don’t run.</a:t>
            </a:r>
            <a:endParaRPr sz="1800" dirty="0"/>
          </a:p>
        </p:txBody>
      </p:sp>
      <p:sp>
        <p:nvSpPr>
          <p:cNvPr id="564" name="Google Shape;564;p38"/>
          <p:cNvSpPr txBox="1"/>
          <p:nvPr/>
        </p:nvSpPr>
        <p:spPr>
          <a:xfrm>
            <a:off x="571500" y="2898809"/>
            <a:ext cx="86294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Top KPIs:</a:t>
            </a:r>
            <a:endParaRPr sz="1800" dirty="0"/>
          </a:p>
        </p:txBody>
      </p:sp>
      <p:sp>
        <p:nvSpPr>
          <p:cNvPr id="565" name="Google Shape;565;p38"/>
          <p:cNvSpPr txBox="1"/>
          <p:nvPr/>
        </p:nvSpPr>
        <p:spPr>
          <a:xfrm>
            <a:off x="571500" y="4261694"/>
            <a:ext cx="7204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Charts:</a:t>
            </a:r>
            <a:endParaRPr sz="1800" dirty="0"/>
          </a:p>
        </p:txBody>
      </p:sp>
      <p:sp>
        <p:nvSpPr>
          <p:cNvPr id="566" name="Google Shape;566;p38"/>
          <p:cNvSpPr txBox="1"/>
          <p:nvPr/>
        </p:nvSpPr>
        <p:spPr>
          <a:xfrm>
            <a:off x="914400" y="3213943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/>
          </a:p>
        </p:txBody>
      </p:sp>
      <p:sp>
        <p:nvSpPr>
          <p:cNvPr id="567" name="Google Shape;567;p38"/>
          <p:cNvSpPr txBox="1"/>
          <p:nvPr/>
        </p:nvSpPr>
        <p:spPr>
          <a:xfrm>
            <a:off x="952500" y="3213943"/>
            <a:ext cx="457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Cancellation Rate: 5.94%</a:t>
            </a:r>
            <a:endParaRPr sz="1800"/>
          </a:p>
        </p:txBody>
      </p:sp>
      <p:sp>
        <p:nvSpPr>
          <p:cNvPr id="568" name="Google Shape;568;p38"/>
          <p:cNvSpPr txBox="1"/>
          <p:nvPr/>
        </p:nvSpPr>
        <p:spPr>
          <a:xfrm>
            <a:off x="914400" y="3613993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/>
          </a:p>
        </p:txBody>
      </p:sp>
      <p:sp>
        <p:nvSpPr>
          <p:cNvPr id="569" name="Google Shape;569;p38"/>
          <p:cNvSpPr txBox="1"/>
          <p:nvPr/>
        </p:nvSpPr>
        <p:spPr>
          <a:xfrm>
            <a:off x="952500" y="3613993"/>
            <a:ext cx="457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 Rate: 3.53%</a:t>
            </a:r>
            <a:endParaRPr sz="1800"/>
          </a:p>
        </p:txBody>
      </p:sp>
      <p:sp>
        <p:nvSpPr>
          <p:cNvPr id="570" name="Google Shape;570;p38"/>
          <p:cNvSpPr txBox="1"/>
          <p:nvPr/>
        </p:nvSpPr>
        <p:spPr>
          <a:xfrm>
            <a:off x="914400" y="4595068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/>
          </a:p>
        </p:txBody>
      </p:sp>
      <p:sp>
        <p:nvSpPr>
          <p:cNvPr id="571" name="Google Shape;571;p38"/>
          <p:cNvSpPr txBox="1"/>
          <p:nvPr/>
        </p:nvSpPr>
        <p:spPr>
          <a:xfrm>
            <a:off x="952500" y="4595068"/>
            <a:ext cx="457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Cancellation Rate % by Route.</a:t>
            </a:r>
            <a:endParaRPr sz="1800"/>
          </a:p>
        </p:txBody>
      </p:sp>
      <p:sp>
        <p:nvSpPr>
          <p:cNvPr id="572" name="Google Shape;572;p38"/>
          <p:cNvSpPr txBox="1"/>
          <p:nvPr/>
        </p:nvSpPr>
        <p:spPr>
          <a:xfrm>
            <a:off x="914400" y="4995118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/>
          </a:p>
        </p:txBody>
      </p:sp>
      <p:sp>
        <p:nvSpPr>
          <p:cNvPr id="573" name="Google Shape;573;p38"/>
          <p:cNvSpPr txBox="1"/>
          <p:nvPr/>
        </p:nvSpPr>
        <p:spPr>
          <a:xfrm>
            <a:off x="952500" y="4995118"/>
            <a:ext cx="4572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Refund Value by Class: Standard Class 83.56%.</a:t>
            </a:r>
            <a:endParaRPr sz="1800" dirty="0"/>
          </a:p>
        </p:txBody>
      </p:sp>
      <p:sp>
        <p:nvSpPr>
          <p:cNvPr id="574" name="Google Shape;574;p38"/>
          <p:cNvSpPr txBox="1"/>
          <p:nvPr/>
        </p:nvSpPr>
        <p:spPr>
          <a:xfrm>
            <a:off x="914400" y="5395168"/>
            <a:ext cx="38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sz="1800"/>
          </a:p>
        </p:txBody>
      </p:sp>
      <p:sp>
        <p:nvSpPr>
          <p:cNvPr id="575" name="Google Shape;575;p38"/>
          <p:cNvSpPr txBox="1"/>
          <p:nvPr/>
        </p:nvSpPr>
        <p:spPr>
          <a:xfrm>
            <a:off x="952500" y="5704960"/>
            <a:ext cx="457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Cancelled Reasons: Signal Failure main.</a:t>
            </a:r>
            <a:endParaRPr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9"/>
          <p:cNvSpPr txBox="1"/>
          <p:nvPr/>
        </p:nvSpPr>
        <p:spPr>
          <a:xfrm>
            <a:off x="571500" y="32949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Technology Stack</a:t>
            </a:r>
            <a:endParaRPr/>
          </a:p>
        </p:txBody>
      </p:sp>
      <p:sp>
        <p:nvSpPr>
          <p:cNvPr id="582" name="Google Shape;582;p39"/>
          <p:cNvSpPr txBox="1"/>
          <p:nvPr/>
        </p:nvSpPr>
        <p:spPr>
          <a:xfrm>
            <a:off x="6381750" y="310440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Deployment Diagram</a:t>
            </a:r>
            <a:endParaRPr/>
          </a:p>
        </p:txBody>
      </p:sp>
      <p:sp>
        <p:nvSpPr>
          <p:cNvPr id="583" name="Google Shape;583;p39"/>
          <p:cNvSpPr txBox="1"/>
          <p:nvPr/>
        </p:nvSpPr>
        <p:spPr>
          <a:xfrm>
            <a:off x="6381750" y="446648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Connection between Power BI visuals and Python-prepared dataset.</a:t>
            </a:r>
            <a:endParaRPr dirty="0"/>
          </a:p>
        </p:txBody>
      </p:sp>
      <p:sp>
        <p:nvSpPr>
          <p:cNvPr id="584" name="Google Shape;584;p39"/>
          <p:cNvSpPr txBox="1"/>
          <p:nvPr/>
        </p:nvSpPr>
        <p:spPr>
          <a:xfrm>
            <a:off x="914400" y="37711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85" name="Google Shape;585;p39"/>
          <p:cNvSpPr txBox="1"/>
          <p:nvPr/>
        </p:nvSpPr>
        <p:spPr>
          <a:xfrm>
            <a:off x="952500" y="37711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Python (Pandas, Matplotlib)</a:t>
            </a:r>
            <a:endParaRPr/>
          </a:p>
        </p:txBody>
      </p:sp>
      <p:sp>
        <p:nvSpPr>
          <p:cNvPr id="586" name="Google Shape;586;p39"/>
          <p:cNvSpPr txBox="1"/>
          <p:nvPr/>
        </p:nvSpPr>
        <p:spPr>
          <a:xfrm>
            <a:off x="914400" y="41712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87" name="Google Shape;587;p39"/>
          <p:cNvSpPr txBox="1"/>
          <p:nvPr/>
        </p:nvSpPr>
        <p:spPr>
          <a:xfrm>
            <a:off x="952500" y="41712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Power BI</a:t>
            </a:r>
            <a:endParaRPr/>
          </a:p>
        </p:txBody>
      </p:sp>
      <p:sp>
        <p:nvSpPr>
          <p:cNvPr id="588" name="Google Shape;588;p39"/>
          <p:cNvSpPr txBox="1"/>
          <p:nvPr/>
        </p:nvSpPr>
        <p:spPr>
          <a:xfrm>
            <a:off x="914400" y="45712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589" name="Google Shape;589;p39"/>
          <p:cNvSpPr txBox="1"/>
          <p:nvPr/>
        </p:nvSpPr>
        <p:spPr>
          <a:xfrm>
            <a:off x="952500" y="45712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Excel/CSV</a:t>
            </a:r>
            <a:endParaRPr/>
          </a:p>
        </p:txBody>
      </p:sp>
      <p:sp>
        <p:nvSpPr>
          <p:cNvPr id="590" name="Google Shape;590;p39"/>
          <p:cNvSpPr txBox="1"/>
          <p:nvPr/>
        </p:nvSpPr>
        <p:spPr>
          <a:xfrm>
            <a:off x="7872412" y="3714005"/>
            <a:ext cx="381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pic>
        <p:nvPicPr>
          <p:cNvPr id="591" name="Google Shape;591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43912" y="3918793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9"/>
          <p:cNvSpPr txBox="1"/>
          <p:nvPr/>
        </p:nvSpPr>
        <p:spPr>
          <a:xfrm>
            <a:off x="8767762" y="3714005"/>
            <a:ext cx="381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pic>
        <p:nvPicPr>
          <p:cNvPr id="593" name="Google Shape;593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9262" y="3918793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9"/>
          <p:cNvSpPr txBox="1"/>
          <p:nvPr/>
        </p:nvSpPr>
        <p:spPr>
          <a:xfrm>
            <a:off x="9663112" y="3714005"/>
            <a:ext cx="466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pic>
        <p:nvPicPr>
          <p:cNvPr id="595" name="Google Shape;595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72412" y="371400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91575" y="371400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29787" y="371400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9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Deployment &amp; Integration</a:t>
            </a:r>
            <a:endParaRPr/>
          </a:p>
        </p:txBody>
      </p:sp>
      <p:sp>
        <p:nvSpPr>
          <p:cNvPr id="599" name="Google Shape;599;p39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70310"/>
            <a:ext cx="5238750" cy="451618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0"/>
          <p:cNvSpPr txBox="1"/>
          <p:nvPr/>
        </p:nvSpPr>
        <p:spPr>
          <a:xfrm>
            <a:off x="96202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Final Deliverables</a:t>
            </a:r>
            <a:endParaRPr/>
          </a:p>
        </p:txBody>
      </p:sp>
      <p:sp>
        <p:nvSpPr>
          <p:cNvPr id="608" name="Google Shape;608;p40"/>
          <p:cNvSpPr txBox="1"/>
          <p:nvPr/>
        </p:nvSpPr>
        <p:spPr>
          <a:xfrm>
            <a:off x="6772275" y="242753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Optional Next Steps</a:t>
            </a:r>
            <a:endParaRPr/>
          </a:p>
        </p:txBody>
      </p:sp>
      <p:sp>
        <p:nvSpPr>
          <p:cNvPr id="609" name="Google Shape;609;p40"/>
          <p:cNvSpPr txBox="1"/>
          <p:nvPr/>
        </p:nvSpPr>
        <p:spPr>
          <a:xfrm>
            <a:off x="1343025" y="29037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Cleaned Dataset (CSV).</a:t>
            </a:r>
            <a:endParaRPr/>
          </a:p>
        </p:txBody>
      </p:sp>
      <p:sp>
        <p:nvSpPr>
          <p:cNvPr id="610" name="Google Shape;610;p40"/>
          <p:cNvSpPr txBox="1"/>
          <p:nvPr/>
        </p:nvSpPr>
        <p:spPr>
          <a:xfrm>
            <a:off x="1343025" y="33038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Interactive Power BI Dashboard.</a:t>
            </a:r>
            <a:endParaRPr/>
          </a:p>
        </p:txBody>
      </p:sp>
      <p:sp>
        <p:nvSpPr>
          <p:cNvPr id="611" name="Google Shape;611;p40"/>
          <p:cNvSpPr txBox="1"/>
          <p:nvPr/>
        </p:nvSpPr>
        <p:spPr>
          <a:xfrm>
            <a:off x="1343025" y="37038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Python Analysis Scripts &amp; PNG Charts.</a:t>
            </a:r>
            <a:endParaRPr/>
          </a:p>
        </p:txBody>
      </p:sp>
      <p:sp>
        <p:nvSpPr>
          <p:cNvPr id="612" name="Google Shape;612;p40"/>
          <p:cNvSpPr txBox="1"/>
          <p:nvPr/>
        </p:nvSpPr>
        <p:spPr>
          <a:xfrm>
            <a:off x="1343025" y="410393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Project Documentation.</a:t>
            </a:r>
            <a:endParaRPr/>
          </a:p>
        </p:txBody>
      </p:sp>
      <p:sp>
        <p:nvSpPr>
          <p:cNvPr id="613" name="Google Shape;613;p40"/>
          <p:cNvSpPr txBox="1"/>
          <p:nvPr/>
        </p:nvSpPr>
        <p:spPr>
          <a:xfrm>
            <a:off x="7115175" y="29037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614" name="Google Shape;614;p40"/>
          <p:cNvSpPr txBox="1"/>
          <p:nvPr/>
        </p:nvSpPr>
        <p:spPr>
          <a:xfrm>
            <a:off x="7153275" y="29037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Add automated notebooks / scheduled ETL.</a:t>
            </a:r>
            <a:endParaRPr/>
          </a:p>
        </p:txBody>
      </p:sp>
      <p:sp>
        <p:nvSpPr>
          <p:cNvPr id="615" name="Google Shape;615;p40"/>
          <p:cNvSpPr txBox="1"/>
          <p:nvPr/>
        </p:nvSpPr>
        <p:spPr>
          <a:xfrm>
            <a:off x="7115175" y="330383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616" name="Google Shape;616;p40"/>
          <p:cNvSpPr txBox="1"/>
          <p:nvPr/>
        </p:nvSpPr>
        <p:spPr>
          <a:xfrm>
            <a:off x="7153275" y="3303835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Build advanced DAX measures in Measures table.</a:t>
            </a:r>
            <a:endParaRPr/>
          </a:p>
        </p:txBody>
      </p:sp>
      <p:sp>
        <p:nvSpPr>
          <p:cNvPr id="617" name="Google Shape;617;p40"/>
          <p:cNvSpPr txBox="1"/>
          <p:nvPr/>
        </p:nvSpPr>
        <p:spPr>
          <a:xfrm>
            <a:off x="7115175" y="40086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618" name="Google Shape;618;p40"/>
          <p:cNvSpPr txBox="1"/>
          <p:nvPr/>
        </p:nvSpPr>
        <p:spPr>
          <a:xfrm>
            <a:off x="7153275" y="4008685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Add predictive models for delay forecasting.</a:t>
            </a:r>
            <a:endParaRPr/>
          </a:p>
        </p:txBody>
      </p:sp>
      <p:pic>
        <p:nvPicPr>
          <p:cNvPr id="619" name="Google Shape;619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025" y="29561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025" y="335622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025" y="37562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025" y="415632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0"/>
          <p:cNvSpPr txBox="1"/>
          <p:nvPr/>
        </p:nvSpPr>
        <p:spPr>
          <a:xfrm>
            <a:off x="762000" y="903535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Deliverables &amp; Next Steps</a:t>
            </a:r>
            <a:endParaRPr/>
          </a:p>
        </p:txBody>
      </p:sp>
      <p:sp>
        <p:nvSpPr>
          <p:cNvPr id="624" name="Google Shape;624;p40"/>
          <p:cNvSpPr/>
          <p:nvPr/>
        </p:nvSpPr>
        <p:spPr>
          <a:xfrm>
            <a:off x="571500" y="903535"/>
            <a:ext cx="47625" cy="4857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2"/>
          <p:cNvSpPr txBox="1"/>
          <p:nvPr/>
        </p:nvSpPr>
        <p:spPr>
          <a:xfrm>
            <a:off x="295275" y="170973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649" name="Google Shape;649;p42"/>
          <p:cNvSpPr txBox="1"/>
          <p:nvPr/>
        </p:nvSpPr>
        <p:spPr>
          <a:xfrm>
            <a:off x="295275" y="3730823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/>
          </a:p>
        </p:txBody>
      </p:sp>
      <p:sp>
        <p:nvSpPr>
          <p:cNvPr id="650" name="Google Shape;650;p42"/>
          <p:cNvSpPr txBox="1"/>
          <p:nvPr/>
        </p:nvSpPr>
        <p:spPr>
          <a:xfrm>
            <a:off x="571500" y="5271938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UK-Train-Rides Analysis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1675</Words>
  <Application>Microsoft Office PowerPoint</Application>
  <PresentationFormat>Widescreen</PresentationFormat>
  <Paragraphs>324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Urbanist SemiBold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20210381</cp:lastModifiedBy>
  <cp:revision>1</cp:revision>
  <dcterms:modified xsi:type="dcterms:W3CDTF">2025-12-04T09:13:03Z</dcterms:modified>
</cp:coreProperties>
</file>